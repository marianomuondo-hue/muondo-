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5cca853c-32b9-dd00-64c6-4cb5600d96ff}">
          <p14:sldIdLst>
            <p14:sldId id="256"/>
            <p14:sldId id="257"/>
          </p14:sldIdLst>
        </p14:section>
        <p14:section name="1. Introdução e Enquadramento" id="{e308011d-a0bb-0594-5ace-1d1cda1eec3c}">
          <p14:sldIdLst>
            <p14:sldId id="258"/>
            <p14:sldId id="259"/>
          </p14:sldIdLst>
        </p14:section>
        <p14:section name="2. Estudo de Caso e Diagnóstico Urbano" id="{8d4211f6-2498-476d-8977-507759756cd9}">
          <p14:sldIdLst>
            <p14:sldId id="260"/>
            <p14:sldId id="261"/>
          </p14:sldIdLst>
        </p14:section>
        <p14:section name="3. Engenharia de Requisitos do Sistema" id="{7c1dfd91-93f6-5583-0fd3-e3d406daa544}">
          <p14:sldIdLst>
            <p14:sldId id="262"/>
            <p14:sldId id="263"/>
          </p14:sldIdLst>
        </p14:section>
        <p14:section name="4. Problematização e Questão de Investigação" id="{12d406cc-9f9e-7781-31ee-facae1e961ab}">
          <p14:sldIdLst>
            <p14:sldId id="264"/>
            <p14:sldId id="265"/>
          </p14:sldIdLst>
        </p14:section>
        <p14:section name="5. Objetivos da Investigação" id="{1de989f2-9fa7-0534-f1bd-9e6caeabbd54}">
          <p14:sldIdLst>
            <p14:sldId id="266"/>
            <p14:sldId id="267"/>
          </p14:sldIdLst>
        </p14:section>
        <p14:section name="6. Estudo de Comparação e Estado da Arte" id="{e6419f86-532c-cb8e-9fa6-53f2dce0a408}">
          <p14:sldIdLst>
            <p14:sldId id="268"/>
            <p14:sldId id="269"/>
          </p14:sldIdLst>
        </p14:section>
        <p14:section name="7. Pilha Tecnológica Selecionada (Front-end)" id="{2fcfc9df-1e9e-860e-9c3d-068096539825}">
          <p14:sldIdLst>
            <p14:sldId id="270"/>
            <p14:sldId id="271"/>
            <p14:sldId id="272"/>
          </p14:sldIdLst>
        </p14:section>
        <p14:section name="8. Pilha Tecnológica Selecionada (Back-end e Dados)" id="{0191f2b0-3e71-31fb-194e-7f7e5866aa33}">
          <p14:sldIdLst>
            <p14:sldId id="273"/>
            <p14:sldId id="274"/>
          </p14:sldIdLst>
        </p14:section>
        <p14:section name="9. Arquitetura Estrutural e Fluxos de Dados" id="{aa12e467-a79c-5193-54d3-d98a5a5bc55e}">
          <p14:sldIdLst>
            <p14:sldId id="275"/>
            <p14:sldId id="276"/>
          </p14:sldIdLst>
        </p14:section>
        <p14:section name="10. Comparação Crítica das Ferramentas Computacionais" id="{14526c14-d694-74a9-a1a5-f664e255711b}">
          <p14:sldIdLst>
            <p14:sldId id="277"/>
            <p14:sldId id="278"/>
          </p14:sldIdLst>
        </p14:section>
        <p14:section name="11. Conclusões e Considerações Finais" id="{d1def52a-14f1-c516-a59b-75931b5256e1}">
          <p14:sldIdLst>
            <p14:sldId id="279"/>
            <p14:sldId id="280"/>
          </p14:sldIdLst>
        </p14:section>
        <p14:section name="12. Referências Bibliográficas" id="{664efdc6-d0c3-3c0e-5405-c10324685ae4}">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274320"/>
            <a:ext cx="11548872" cy="6309360"/>
          </a:xfrm>
          <a:prstGeom prst="rect">
            <a:avLst/>
          </a:prstGeom>
          <a:ln w="38100">
            <a:solidFill>
              <a:srgbClr val="000000"/>
            </a:solidFill>
            <a:prstDash val="solid"/>
          </a:ln>
        </p:spPr>
      </p:sp>
      <p:sp>
        <p:nvSpPr>
          <p:cNvPr id="3" name="Shape 1"/>
          <p:cNvSpPr/>
          <p:nvPr/>
        </p:nvSpPr>
        <p:spPr>
          <a:xfrm>
            <a:off x="411480" y="365760"/>
            <a:ext cx="11365992" cy="6126480"/>
          </a:xfrm>
          <a:prstGeom prst="rect">
            <a:avLst/>
          </a:prstGeom>
          <a:ln w="12700">
            <a:solidFill>
              <a:srgbClr val="000000"/>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UDO">
    <p:bg>
      <p:bgPr>
        <a:solidFill>
          <a:srgbClr val="FFFFFF"/>
        </a:solidFill>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10241280" y="274320"/>
            <a:ext cx="1490472" cy="510235"/>
          </a:xfrm>
          <a:prstGeom prst="rect">
            <a:avLst/>
          </a:prstGeom>
        </p:spPr>
      </p:pic>
      <p:sp>
        <p:nvSpPr>
          <p:cNvPr id="3" name="Text 0"/>
          <p:cNvSpPr/>
          <p:nvPr>
            <p:ph idx="101" type="body" hasCustomPrompt="1"/>
          </p:nvPr>
        </p:nvSpPr>
        <p:spPr>
          <a:xfrm>
            <a:off x="457200" y="365760"/>
            <a:ext cx="9144000" cy="365760"/>
          </a:xfrm>
          <a:prstGeom prst="rect">
            <a:avLst/>
          </a:prstGeom>
          <a:noFill/>
          <a:ln/>
        </p:spPr>
        <p:txBody>
          <a:bodyPr wrap="square" rtlCol="0"/>
          <a:lstStyle>
            <a:lvl1pPr indent="0" marL="0">
              <a:buNone/>
              <a:defRPr lang="en-US" sz="1400" i="1" dirty="0">
                <a:solidFill>
                  <a:srgbClr val="595959"/>
                </a:solidFill>
              </a:defRPr>
            </a:lvl1pPr>
          </a:lstStyle>
          <a:p>
            <a:pPr indent="0" marL="0">
              <a:buNone/>
            </a:pPr>
            <a:endParaRPr lang="en-US" sz="1400" dirty="0"/>
          </a:p>
        </p:txBody>
      </p:sp>
      <p:sp>
        <p:nvSpPr>
          <p:cNvPr id="4" name="Text 0"/>
          <p:cNvSpPr/>
          <p:nvPr>
            <p:ph idx="102" type="title" hasCustomPrompt="1"/>
          </p:nvPr>
        </p:nvSpPr>
        <p:spPr>
          <a:xfrm>
            <a:off x="457200" y="868680"/>
            <a:ext cx="11274552" cy="731520"/>
          </a:xfrm>
          <a:prstGeom prst="rect">
            <a:avLst/>
          </a:prstGeom>
          <a:noFill/>
          <a:ln/>
        </p:spPr>
        <p:txBody>
          <a:bodyPr wrap="square" rtlCol="0"/>
          <a:lstStyle>
            <a:lvl1pPr algn="l" indent="0" marL="0">
              <a:buNone/>
              <a:defRPr lang="en-US" sz="3200" b="1" dirty="0">
                <a:solidFill>
                  <a:srgbClr val="2F5496"/>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ótipo ITCL" descr="logo.png">    </p:cNvPr>
          <p:cNvPicPr>
            <a:picLocks noChangeAspect="1"/>
          </p:cNvPicPr>
          <p:nvPr/>
        </p:nvPicPr>
        <p:blipFill>
          <a:blip r:embed="rId1"/>
          <a:stretch>
            <a:fillRect/>
          </a:stretch>
        </p:blipFill>
        <p:spPr>
          <a:xfrm>
            <a:off x="4297680" y="731520"/>
            <a:ext cx="3566160" cy="1220724"/>
          </a:xfrm>
          <a:prstGeom prst="rect">
            <a:avLst/>
          </a:prstGeom>
        </p:spPr>
      </p:pic>
      <p:sp>
        <p:nvSpPr>
          <p:cNvPr id="3" name="Text 0"/>
          <p:cNvSpPr txBox="1"/>
          <p:nvPr/>
        </p:nvSpPr>
        <p:spPr>
          <a:xfrm>
            <a:off x="2286000" y="2103120"/>
            <a:ext cx="7616952" cy="731520"/>
          </a:xfrm>
          <a:prstGeom prst="rect">
            <a:avLst/>
          </a:prstGeom>
          <a:noFill/>
          <a:ln/>
        </p:spPr>
        <p:txBody>
          <a:bodyPr wrap="square" lIns="0" tIns="0" rIns="0" bIns="0" rtlCol="0" anchor="t"/>
          <a:lstStyle/>
          <a:p>
            <a:pPr algn="ctr" indent="0" marL="0">
              <a:spcAft>
                <a:spcPts val="600"/>
              </a:spcAft>
              <a:buNone/>
            </a:pPr>
            <a:r>
              <a:rPr lang="en-US" sz="1600" b="1" dirty="0">
                <a:solidFill>
                  <a:schemeClr val="tx1"/>
                </a:solidFill>
              </a:rPr>
              <a:t>Ministério da Educação</a:t>
            </a:r>
            <a:endParaRPr lang="en-US" sz="1600" dirty="0"/>
          </a:p>
          <a:p>
            <a:pPr algn="ctr" indent="0" marL="0">
              <a:spcAft>
                <a:spcPts val="600"/>
              </a:spcAft>
              <a:buNone/>
            </a:pPr>
            <a:r>
              <a:rPr lang="en-US" sz="1600" b="1" dirty="0">
                <a:solidFill>
                  <a:schemeClr val="tx1"/>
                </a:solidFill>
              </a:rPr>
              <a:t>Instituto Técnico Comercial de Luanda</a:t>
            </a:r>
            <a:endParaRPr lang="en-US" sz="1600" dirty="0"/>
          </a:p>
        </p:txBody>
      </p:sp>
      <p:sp>
        <p:nvSpPr>
          <p:cNvPr id="4" name="Text 1"/>
          <p:cNvSpPr txBox="1"/>
          <p:nvPr/>
        </p:nvSpPr>
        <p:spPr>
          <a:xfrm>
            <a:off x="1097280" y="3017520"/>
            <a:ext cx="9994392" cy="1737360"/>
          </a:xfrm>
          <a:prstGeom prst="rect">
            <a:avLst/>
          </a:prstGeom>
          <a:noFill/>
          <a:ln/>
        </p:spPr>
        <p:txBody>
          <a:bodyPr wrap="square" lIns="0" tIns="0" rIns="0" bIns="0" rtlCol="0" anchor="t"/>
          <a:lstStyle/>
          <a:p>
            <a:pPr algn="ctr" indent="0" marL="0">
              <a:spcAft>
                <a:spcPts val="400"/>
              </a:spcAft>
              <a:buNone/>
            </a:pPr>
            <a:r>
              <a:rPr lang="en-US" sz="3200" b="1" dirty="0">
                <a:solidFill>
                  <a:schemeClr val="accent1"/>
                </a:solidFill>
              </a:rPr>
              <a:t>SISTEMA WEB DE ALERTA DE FALTA</a:t>
            </a:r>
            <a:endParaRPr lang="en-US" sz="3200" dirty="0"/>
          </a:p>
          <a:p>
            <a:pPr algn="ctr" indent="0" marL="0">
              <a:spcAft>
                <a:spcPts val="400"/>
              </a:spcAft>
              <a:buNone/>
            </a:pPr>
            <a:r>
              <a:rPr lang="en-US" sz="2800" b="1" dirty="0">
                <a:solidFill>
                  <a:schemeClr val="accent1"/>
                </a:solidFill>
              </a:rPr>
              <a:t>DE ÁGUA E ENERGIA ELÉTRICA POR</a:t>
            </a:r>
            <a:endParaRPr lang="en-US" sz="3200" dirty="0"/>
          </a:p>
          <a:p>
            <a:pPr algn="ctr" indent="0" marL="0">
              <a:spcAft>
                <a:spcPts val="400"/>
              </a:spcAft>
              <a:buNone/>
            </a:pPr>
            <a:r>
              <a:rPr lang="en-US" sz="2800" b="1" dirty="0">
                <a:solidFill>
                  <a:schemeClr val="accent1"/>
                </a:solidFill>
              </a:rPr>
              <a:t>BAIRRO</a:t>
            </a:r>
            <a:endParaRPr lang="en-US" sz="3200" dirty="0"/>
          </a:p>
        </p:txBody>
      </p:sp>
      <p:sp>
        <p:nvSpPr>
          <p:cNvPr id="5" name="Text 2"/>
          <p:cNvSpPr txBox="1"/>
          <p:nvPr/>
        </p:nvSpPr>
        <p:spPr>
          <a:xfrm>
            <a:off x="1645920" y="4617720"/>
            <a:ext cx="8897112" cy="822960"/>
          </a:xfrm>
          <a:prstGeom prst="rect">
            <a:avLst/>
          </a:prstGeom>
          <a:noFill/>
          <a:ln/>
        </p:spPr>
        <p:txBody>
          <a:bodyPr wrap="square" lIns="0" tIns="0" rIns="0" bIns="0" rtlCol="0" anchor="t"/>
          <a:lstStyle/>
          <a:p>
            <a:pPr algn="ctr" indent="0" marL="0">
              <a:buNone/>
            </a:pPr>
            <a:r>
              <a:rPr lang="en-US" sz="1800" dirty="0">
                <a:solidFill>
                  <a:schemeClr val="accent5"/>
                </a:solidFill>
              </a:rPr>
              <a:t>Desenho e Implementação de um Protótipo Colaborativo Baseado na Arquitetura LAMP para Mitigação de Crises de Abastecimento Urbano</a:t>
            </a:r>
            <a:endParaRPr lang="en-US" sz="1800" dirty="0"/>
          </a:p>
        </p:txBody>
      </p:sp>
      <p:sp>
        <p:nvSpPr>
          <p:cNvPr id="6" name="Text 3"/>
          <p:cNvSpPr txBox="1"/>
          <p:nvPr/>
        </p:nvSpPr>
        <p:spPr>
          <a:xfrm>
            <a:off x="4270248" y="5623560"/>
            <a:ext cx="3657600" cy="640080"/>
          </a:xfrm>
          <a:prstGeom prst="rect">
            <a:avLst/>
          </a:prstGeom>
          <a:noFill/>
          <a:ln/>
        </p:spPr>
        <p:txBody>
          <a:bodyPr wrap="square" lIns="0" tIns="0" rIns="0" bIns="0" rtlCol="0" anchor="t"/>
          <a:lstStyle/>
          <a:p>
            <a:pPr algn="ctr" indent="0" marL="0">
              <a:spcAft>
                <a:spcPts val="300"/>
              </a:spcAft>
              <a:buNone/>
            </a:pPr>
            <a:r>
              <a:rPr lang="en-US" sz="1400" b="1" dirty="0">
                <a:solidFill>
                  <a:schemeClr val="tx1"/>
                </a:solidFill>
              </a:rPr>
              <a:t>Luanda, Angola</a:t>
            </a:r>
            <a:endParaRPr lang="en-US" sz="1400" dirty="0"/>
          </a:p>
          <a:p>
            <a:pPr algn="ctr" indent="0" marL="0">
              <a:spcAft>
                <a:spcPts val="300"/>
              </a:spcAft>
              <a:buNone/>
            </a:pPr>
            <a:r>
              <a:rPr lang="en-US" sz="1400" b="1" dirty="0">
                <a:solidFill>
                  <a:schemeClr val="tx1"/>
                </a:solidFill>
              </a:rPr>
              <a:t>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Documento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Sumário</a:t>
            </a:r>
            <a:endParaRPr lang="en-US" sz="3200" dirty="0"/>
          </a:p>
        </p:txBody>
      </p:sp>
      <p:sp>
        <p:nvSpPr>
          <p:cNvPr id="4" name="Sumário entradas"/>
          <p:cNvSpPr txBox="1"/>
          <p:nvPr/>
        </p:nvSpPr>
        <p:spPr>
          <a:xfrm>
            <a:off x="457200" y="1783080"/>
            <a:ext cx="5074920" cy="4572000"/>
          </a:xfrm>
          <a:prstGeom prst="rect">
            <a:avLst/>
          </a:prstGeom>
          <a:noFill/>
          <a:ln/>
        </p:spPr>
        <p:txBody>
          <a:bodyPr wrap="square" lIns="0" tIns="0" rIns="0" bIns="0" rtlCol="0" anchor="t"/>
          <a:lstStyle/>
          <a:p>
            <a:pPr algn="l" indent="0" marL="0">
              <a:lnSpc>
                <a:spcPts val="1900"/>
              </a:lnSpc>
              <a:buNone/>
            </a:pPr>
            <a:r>
              <a:rPr lang="en-US" sz="1400" b="1" dirty="0">
                <a:solidFill>
                  <a:schemeClr val="accent1"/>
                </a:solidFill>
              </a:rPr>
              <a:t>1. Introdução e Enquadramento</a:t>
            </a:r>
            <a:endParaRPr lang="en-US" sz="1400" dirty="0"/>
          </a:p>
          <a:p>
            <a:pPr algn="l" indent="0" marL="0">
              <a:lnSpc>
                <a:spcPts val="1900"/>
              </a:lnSpc>
              <a:buNone/>
            </a:pPr>
            <a:r>
              <a:rPr lang="en-US" sz="1400" dirty="0">
                <a:solidFill>
                  <a:schemeClr val="tx1"/>
                </a:solidFill>
              </a:rPr>
              <a:t>1.1. Contextualização Histórica e Social</a:t>
            </a:r>
            <a:endParaRPr lang="en-US" sz="1400" dirty="0"/>
          </a:p>
          <a:p>
            <a:pPr algn="l" indent="0" marL="0">
              <a:lnSpc>
                <a:spcPts val="1900"/>
              </a:lnSpc>
              <a:buNone/>
            </a:pPr>
            <a:r>
              <a:rPr lang="en-US" sz="1400" dirty="0">
                <a:solidFill>
                  <a:schemeClr val="tx1"/>
                </a:solidFill>
              </a:rPr>
              <a:t>1.2. Justificação Científica e Prática do Tema</a:t>
            </a:r>
            <a:endParaRPr lang="en-US" sz="1400" dirty="0"/>
          </a:p>
          <a:p>
            <a:pPr algn="l" indent="0" marL="0">
              <a:lnSpc>
                <a:spcPts val="1900"/>
              </a:lnSpc>
              <a:buNone/>
            </a:pPr>
            <a:r>
              <a:rPr lang="en-US" sz="1400" b="1" dirty="0">
                <a:solidFill>
                  <a:schemeClr val="accent1"/>
                </a:solidFill>
              </a:rPr>
              <a:t>2. Estudo de Caso e Diagnóstico Urbano</a:t>
            </a:r>
            <a:endParaRPr lang="en-US" sz="1400" dirty="0"/>
          </a:p>
          <a:p>
            <a:pPr algn="l" indent="0" marL="0">
              <a:lnSpc>
                <a:spcPts val="1900"/>
              </a:lnSpc>
              <a:buNone/>
            </a:pPr>
            <a:r>
              <a:rPr lang="en-US" sz="1400" dirty="0">
                <a:solidFill>
                  <a:schemeClr val="tx1"/>
                </a:solidFill>
              </a:rPr>
              <a:t>2.1. O Cenário da Região Metropolitana de Luanda</a:t>
            </a:r>
            <a:endParaRPr lang="en-US" sz="1400" dirty="0"/>
          </a:p>
          <a:p>
            <a:pPr algn="l" indent="0" marL="0">
              <a:lnSpc>
                <a:spcPts val="1900"/>
              </a:lnSpc>
              <a:buNone/>
            </a:pPr>
            <a:r>
              <a:rPr lang="en-US" sz="1400" dirty="0">
                <a:solidFill>
                  <a:schemeClr val="tx1"/>
                </a:solidFill>
              </a:rPr>
              <a:t>2.2. Fluxo Atual de Informações Informais</a:t>
            </a:r>
            <a:endParaRPr lang="en-US" sz="1400" dirty="0"/>
          </a:p>
          <a:p>
            <a:pPr algn="l" indent="0" marL="0">
              <a:lnSpc>
                <a:spcPts val="1900"/>
              </a:lnSpc>
              <a:buNone/>
            </a:pPr>
            <a:r>
              <a:rPr lang="en-US" sz="1400" b="1" dirty="0">
                <a:solidFill>
                  <a:schemeClr val="accent1"/>
                </a:solidFill>
              </a:rPr>
              <a:t>3. Engenharia de Requisitos do Sistema</a:t>
            </a:r>
            <a:endParaRPr lang="en-US" sz="1400" dirty="0"/>
          </a:p>
          <a:p>
            <a:pPr algn="l" indent="0" marL="0">
              <a:lnSpc>
                <a:spcPts val="1900"/>
              </a:lnSpc>
              <a:buNone/>
            </a:pPr>
            <a:r>
              <a:rPr lang="en-US" sz="1400" dirty="0">
                <a:solidFill>
                  <a:schemeClr val="tx1"/>
                </a:solidFill>
              </a:rPr>
              <a:t>3.1. Requisitos Funcionais (RF)</a:t>
            </a:r>
            <a:endParaRPr lang="en-US" sz="1400" dirty="0"/>
          </a:p>
          <a:p>
            <a:pPr algn="l" indent="0" marL="0">
              <a:lnSpc>
                <a:spcPts val="1900"/>
              </a:lnSpc>
              <a:buNone/>
            </a:pPr>
            <a:r>
              <a:rPr lang="en-US" sz="1400" dirty="0">
                <a:solidFill>
                  <a:schemeClr val="tx1"/>
                </a:solidFill>
              </a:rPr>
              <a:t>3.2. Requisitos Não Funcionais (RNF)</a:t>
            </a:r>
            <a:endParaRPr lang="en-US" sz="1400" dirty="0"/>
          </a:p>
          <a:p>
            <a:pPr algn="l" indent="0" marL="0">
              <a:lnSpc>
                <a:spcPts val="1900"/>
              </a:lnSpc>
              <a:buNone/>
            </a:pPr>
            <a:r>
              <a:rPr lang="en-US" sz="1400" b="1" dirty="0">
                <a:solidFill>
                  <a:schemeClr val="accent1"/>
                </a:solidFill>
              </a:rPr>
              <a:t>4. Problematização e Questão de Investigação</a:t>
            </a:r>
            <a:endParaRPr lang="en-US" sz="1400" dirty="0"/>
          </a:p>
          <a:p>
            <a:pPr algn="l" indent="0" marL="0">
              <a:lnSpc>
                <a:spcPts val="1900"/>
              </a:lnSpc>
              <a:buNone/>
            </a:pPr>
            <a:r>
              <a:rPr lang="en-US" sz="1400" dirty="0">
                <a:solidFill>
                  <a:schemeClr val="tx1"/>
                </a:solidFill>
              </a:rPr>
              <a:t>4.1. Delimitação Clara do Problema Técnico</a:t>
            </a:r>
            <a:endParaRPr lang="en-US" sz="1400" dirty="0"/>
          </a:p>
          <a:p>
            <a:pPr algn="l" indent="0" marL="0">
              <a:lnSpc>
                <a:spcPts val="1900"/>
              </a:lnSpc>
              <a:buNone/>
            </a:pPr>
            <a:r>
              <a:rPr lang="en-US" sz="1400" dirty="0">
                <a:solidFill>
                  <a:schemeClr val="tx1"/>
                </a:solidFill>
              </a:rPr>
              <a:t>4.2. Impactos Socioeconómicos Gerados</a:t>
            </a:r>
            <a:endParaRPr lang="en-US" sz="1400" dirty="0"/>
          </a:p>
          <a:p>
            <a:pPr algn="l" indent="0" marL="0">
              <a:lnSpc>
                <a:spcPts val="1900"/>
              </a:lnSpc>
              <a:buNone/>
            </a:pPr>
            <a:r>
              <a:rPr lang="en-US" sz="1400" b="1" dirty="0">
                <a:solidFill>
                  <a:schemeClr val="accent1"/>
                </a:solidFill>
              </a:rPr>
              <a:t>5. Objetivos da Investigação</a:t>
            </a:r>
            <a:endParaRPr lang="en-US" sz="1400" dirty="0"/>
          </a:p>
          <a:p>
            <a:pPr algn="l" indent="0" marL="0">
              <a:lnSpc>
                <a:spcPts val="1900"/>
              </a:lnSpc>
              <a:buNone/>
            </a:pPr>
            <a:r>
              <a:rPr lang="en-US" sz="1400" dirty="0">
                <a:solidFill>
                  <a:schemeClr val="tx1"/>
                </a:solidFill>
              </a:rPr>
              <a:t>5.1. Objetivo Geral</a:t>
            </a:r>
            <a:endParaRPr lang="en-US" sz="1400" dirty="0"/>
          </a:p>
          <a:p>
            <a:pPr algn="l" indent="0" marL="0">
              <a:lnSpc>
                <a:spcPts val="1900"/>
              </a:lnSpc>
              <a:buNone/>
            </a:pPr>
            <a:r>
              <a:rPr lang="en-US" sz="1400" dirty="0">
                <a:solidFill>
                  <a:schemeClr val="tx1"/>
                </a:solidFill>
              </a:rPr>
              <a:t>5.2. Objetivos Específicos do Protótipo</a:t>
            </a:r>
            <a:endParaRPr lang="en-US" sz="1400" dirty="0"/>
          </a:p>
          <a:p>
            <a:pPr algn="l" indent="0" marL="0">
              <a:lnSpc>
                <a:spcPts val="1900"/>
              </a:lnSpc>
              <a:buNone/>
            </a:pPr>
            <a:r>
              <a:rPr lang="en-US" sz="1400" b="1" dirty="0">
                <a:solidFill>
                  <a:schemeClr val="accent1"/>
                </a:solidFill>
              </a:rPr>
              <a:t>6. Estudo de Comparação e Estado da Arte</a:t>
            </a:r>
            <a:endParaRPr lang="en-US" sz="1400" dirty="0"/>
          </a:p>
          <a:p>
            <a:pPr algn="l" indent="0" marL="0">
              <a:lnSpc>
                <a:spcPts val="1900"/>
              </a:lnSpc>
              <a:buNone/>
            </a:pPr>
            <a:r>
              <a:rPr lang="en-US" sz="1400" dirty="0">
                <a:solidFill>
                  <a:schemeClr val="tx1"/>
                </a:solidFill>
              </a:rPr>
              <a:t>6.1. Análise de Soluções Existentes no Mercado</a:t>
            </a:r>
            <a:endParaRPr lang="en-US" sz="1400" dirty="0"/>
          </a:p>
          <a:p>
            <a:pPr algn="l" indent="0" marL="0">
              <a:lnSpc>
                <a:spcPts val="1900"/>
              </a:lnSpc>
              <a:buNone/>
            </a:pPr>
            <a:r>
              <a:rPr lang="en-US" sz="1400" dirty="0">
                <a:solidFill>
                  <a:schemeClr val="tx1"/>
                </a:solidFill>
              </a:rPr>
              <a:t>6.2. Matriz Comparativa de Desempenho e Eficácia</a:t>
            </a:r>
            <a:endParaRPr lang="en-US" sz="1400" dirty="0"/>
          </a:p>
        </p:txBody>
      </p:sp>
      <p:sp>
        <p:nvSpPr>
          <p:cNvPr id="5" name="Sumário slides"/>
          <p:cNvSpPr txBox="1"/>
          <p:nvPr/>
        </p:nvSpPr>
        <p:spPr>
          <a:xfrm>
            <a:off x="5577840" y="1783080"/>
            <a:ext cx="411480" cy="4572000"/>
          </a:xfrm>
          <a:prstGeom prst="rect">
            <a:avLst/>
          </a:prstGeom>
          <a:noFill/>
          <a:ln/>
        </p:spPr>
        <p:txBody>
          <a:bodyPr wrap="square" lIns="0" tIns="0" rIns="0" bIns="0" rtlCol="0" anchor="t"/>
          <a:lstStyle/>
          <a:p>
            <a:pPr algn="r" indent="0" marL="0">
              <a:lnSpc>
                <a:spcPts val="1900"/>
              </a:lnSpc>
              <a:buNone/>
            </a:pPr>
            <a:r>
              <a:rPr lang="en-US" sz="1400" b="1" dirty="0">
                <a:solidFill>
                  <a:schemeClr val="accent1"/>
                </a:solidFill>
              </a:rPr>
              <a:t>3</a:t>
            </a:r>
            <a:endParaRPr lang="en-US" sz="1400" dirty="0"/>
          </a:p>
          <a:p>
            <a:pPr algn="r" indent="0" marL="0">
              <a:lnSpc>
                <a:spcPts val="1900"/>
              </a:lnSpc>
              <a:buNone/>
            </a:pPr>
            <a:r>
              <a:rPr lang="en-US" sz="1400" dirty="0">
                <a:solidFill>
                  <a:schemeClr val="tx1"/>
                </a:solidFill>
              </a:rPr>
              <a:t>3</a:t>
            </a:r>
            <a:endParaRPr lang="en-US" sz="1400" dirty="0"/>
          </a:p>
          <a:p>
            <a:pPr algn="r" indent="0" marL="0">
              <a:lnSpc>
                <a:spcPts val="1900"/>
              </a:lnSpc>
              <a:buNone/>
            </a:pPr>
            <a:r>
              <a:rPr lang="en-US" sz="1400" dirty="0">
                <a:solidFill>
                  <a:schemeClr val="tx1"/>
                </a:solidFill>
              </a:rPr>
              <a:t>4</a:t>
            </a:r>
            <a:endParaRPr lang="en-US" sz="1400" dirty="0"/>
          </a:p>
          <a:p>
            <a:pPr algn="r" indent="0" marL="0">
              <a:lnSpc>
                <a:spcPts val="1900"/>
              </a:lnSpc>
              <a:buNone/>
            </a:pPr>
            <a:r>
              <a:rPr lang="en-US" sz="1400" b="1" dirty="0">
                <a:solidFill>
                  <a:schemeClr val="accent1"/>
                </a:solidFill>
              </a:rPr>
              <a:t>5</a:t>
            </a:r>
            <a:endParaRPr lang="en-US" sz="1400" dirty="0"/>
          </a:p>
          <a:p>
            <a:pPr algn="r" indent="0" marL="0">
              <a:lnSpc>
                <a:spcPts val="1900"/>
              </a:lnSpc>
              <a:buNone/>
            </a:pPr>
            <a:r>
              <a:rPr lang="en-US" sz="1400" dirty="0">
                <a:solidFill>
                  <a:schemeClr val="tx1"/>
                </a:solidFill>
              </a:rPr>
              <a:t>5</a:t>
            </a:r>
            <a:endParaRPr lang="en-US" sz="1400" dirty="0"/>
          </a:p>
          <a:p>
            <a:pPr algn="r" indent="0" marL="0">
              <a:lnSpc>
                <a:spcPts val="1900"/>
              </a:lnSpc>
              <a:buNone/>
            </a:pPr>
            <a:r>
              <a:rPr lang="en-US" sz="1400" dirty="0">
                <a:solidFill>
                  <a:schemeClr val="tx1"/>
                </a:solidFill>
              </a:rPr>
              <a:t>6</a:t>
            </a:r>
            <a:endParaRPr lang="en-US" sz="1400" dirty="0"/>
          </a:p>
          <a:p>
            <a:pPr algn="r" indent="0" marL="0">
              <a:lnSpc>
                <a:spcPts val="1900"/>
              </a:lnSpc>
              <a:buNone/>
            </a:pPr>
            <a:r>
              <a:rPr lang="en-US" sz="1400" b="1" dirty="0">
                <a:solidFill>
                  <a:schemeClr val="accent1"/>
                </a:solidFill>
              </a:rPr>
              <a:t>7</a:t>
            </a:r>
            <a:endParaRPr lang="en-US" sz="1400" dirty="0"/>
          </a:p>
          <a:p>
            <a:pPr algn="r" indent="0" marL="0">
              <a:lnSpc>
                <a:spcPts val="1900"/>
              </a:lnSpc>
              <a:buNone/>
            </a:pPr>
            <a:r>
              <a:rPr lang="en-US" sz="1400" dirty="0">
                <a:solidFill>
                  <a:schemeClr val="tx1"/>
                </a:solidFill>
              </a:rPr>
              <a:t>7</a:t>
            </a:r>
            <a:endParaRPr lang="en-US" sz="1400" dirty="0"/>
          </a:p>
          <a:p>
            <a:pPr algn="r" indent="0" marL="0">
              <a:lnSpc>
                <a:spcPts val="1900"/>
              </a:lnSpc>
              <a:buNone/>
            </a:pPr>
            <a:r>
              <a:rPr lang="en-US" sz="1400" dirty="0">
                <a:solidFill>
                  <a:schemeClr val="tx1"/>
                </a:solidFill>
              </a:rPr>
              <a:t>8</a:t>
            </a:r>
            <a:endParaRPr lang="en-US" sz="1400" dirty="0"/>
          </a:p>
          <a:p>
            <a:pPr algn="r" indent="0" marL="0">
              <a:lnSpc>
                <a:spcPts val="1900"/>
              </a:lnSpc>
              <a:buNone/>
            </a:pPr>
            <a:r>
              <a:rPr lang="en-US" sz="1400" b="1" dirty="0">
                <a:solidFill>
                  <a:schemeClr val="accent1"/>
                </a:solidFill>
              </a:rPr>
              <a:t>9</a:t>
            </a:r>
            <a:endParaRPr lang="en-US" sz="1400" dirty="0"/>
          </a:p>
          <a:p>
            <a:pPr algn="r" indent="0" marL="0">
              <a:lnSpc>
                <a:spcPts val="1900"/>
              </a:lnSpc>
              <a:buNone/>
            </a:pPr>
            <a:r>
              <a:rPr lang="en-US" sz="1400" dirty="0">
                <a:solidFill>
                  <a:schemeClr val="tx1"/>
                </a:solidFill>
              </a:rPr>
              <a:t>9</a:t>
            </a:r>
            <a:endParaRPr lang="en-US" sz="1400" dirty="0"/>
          </a:p>
          <a:p>
            <a:pPr algn="r" indent="0" marL="0">
              <a:lnSpc>
                <a:spcPts val="1900"/>
              </a:lnSpc>
              <a:buNone/>
            </a:pPr>
            <a:r>
              <a:rPr lang="en-US" sz="1400" dirty="0">
                <a:solidFill>
                  <a:schemeClr val="tx1"/>
                </a:solidFill>
              </a:rPr>
              <a:t>10</a:t>
            </a:r>
            <a:endParaRPr lang="en-US" sz="1400" dirty="0"/>
          </a:p>
          <a:p>
            <a:pPr algn="r" indent="0" marL="0">
              <a:lnSpc>
                <a:spcPts val="1900"/>
              </a:lnSpc>
              <a:buNone/>
            </a:pPr>
            <a:r>
              <a:rPr lang="en-US" sz="1400" b="1" dirty="0">
                <a:solidFill>
                  <a:schemeClr val="accent1"/>
                </a:solidFill>
              </a:rPr>
              <a:t>11</a:t>
            </a:r>
            <a:endParaRPr lang="en-US" sz="1400" dirty="0"/>
          </a:p>
          <a:p>
            <a:pPr algn="r" indent="0" marL="0">
              <a:lnSpc>
                <a:spcPts val="1900"/>
              </a:lnSpc>
              <a:buNone/>
            </a:pPr>
            <a:r>
              <a:rPr lang="en-US" sz="1400" dirty="0">
                <a:solidFill>
                  <a:schemeClr val="tx1"/>
                </a:solidFill>
              </a:rPr>
              <a:t>11</a:t>
            </a:r>
            <a:endParaRPr lang="en-US" sz="1400" dirty="0"/>
          </a:p>
          <a:p>
            <a:pPr algn="r" indent="0" marL="0">
              <a:lnSpc>
                <a:spcPts val="1900"/>
              </a:lnSpc>
              <a:buNone/>
            </a:pPr>
            <a:r>
              <a:rPr lang="en-US" sz="1400" dirty="0">
                <a:solidFill>
                  <a:schemeClr val="tx1"/>
                </a:solidFill>
              </a:rPr>
              <a:t>12</a:t>
            </a:r>
            <a:endParaRPr lang="en-US" sz="1400" dirty="0"/>
          </a:p>
          <a:p>
            <a:pPr algn="r" indent="0" marL="0">
              <a:lnSpc>
                <a:spcPts val="1900"/>
              </a:lnSpc>
              <a:buNone/>
            </a:pPr>
            <a:r>
              <a:rPr lang="en-US" sz="1400" b="1" dirty="0">
                <a:solidFill>
                  <a:schemeClr val="accent1"/>
                </a:solidFill>
              </a:rPr>
              <a:t>13</a:t>
            </a:r>
            <a:endParaRPr lang="en-US" sz="1400" dirty="0"/>
          </a:p>
          <a:p>
            <a:pPr algn="r" indent="0" marL="0">
              <a:lnSpc>
                <a:spcPts val="1900"/>
              </a:lnSpc>
              <a:buNone/>
            </a:pPr>
            <a:r>
              <a:rPr lang="en-US" sz="1400" dirty="0">
                <a:solidFill>
                  <a:schemeClr val="tx1"/>
                </a:solidFill>
              </a:rPr>
              <a:t>13</a:t>
            </a:r>
            <a:endParaRPr lang="en-US" sz="1400" dirty="0"/>
          </a:p>
          <a:p>
            <a:pPr algn="r" indent="0" marL="0">
              <a:lnSpc>
                <a:spcPts val="1900"/>
              </a:lnSpc>
              <a:buNone/>
            </a:pPr>
            <a:r>
              <a:rPr lang="en-US" sz="1400" dirty="0">
                <a:solidFill>
                  <a:schemeClr val="tx1"/>
                </a:solidFill>
              </a:rPr>
              <a:t>14</a:t>
            </a:r>
            <a:endParaRPr lang="en-US" sz="1400" dirty="0"/>
          </a:p>
        </p:txBody>
      </p:sp>
      <p:sp>
        <p:nvSpPr>
          <p:cNvPr id="6" name="Sumário entradas"/>
          <p:cNvSpPr txBox="1"/>
          <p:nvPr/>
        </p:nvSpPr>
        <p:spPr>
          <a:xfrm>
            <a:off x="6217920" y="1783080"/>
            <a:ext cx="5074920" cy="4572000"/>
          </a:xfrm>
          <a:prstGeom prst="rect">
            <a:avLst/>
          </a:prstGeom>
          <a:noFill/>
          <a:ln/>
        </p:spPr>
        <p:txBody>
          <a:bodyPr wrap="square" lIns="0" tIns="0" rIns="0" bIns="0" rtlCol="0" anchor="t"/>
          <a:lstStyle/>
          <a:p>
            <a:pPr algn="l" indent="0" marL="0">
              <a:lnSpc>
                <a:spcPts val="1900"/>
              </a:lnSpc>
              <a:buNone/>
            </a:pPr>
            <a:r>
              <a:rPr lang="en-US" sz="1400" b="1" dirty="0">
                <a:solidFill>
                  <a:schemeClr val="accent1"/>
                </a:solidFill>
              </a:rPr>
              <a:t>7. Pilha Tecnológica Selecionada (Front-end)</a:t>
            </a:r>
            <a:endParaRPr lang="en-US" sz="1400" dirty="0"/>
          </a:p>
          <a:p>
            <a:pPr algn="l" indent="0" marL="0">
              <a:lnSpc>
                <a:spcPts val="1900"/>
              </a:lnSpc>
              <a:buNone/>
            </a:pPr>
            <a:r>
              <a:rPr lang="en-US" sz="1400" dirty="0">
                <a:solidFill>
                  <a:schemeClr val="tx1"/>
                </a:solidFill>
              </a:rPr>
              <a:t>7.1. Estruturação Semântica Dinâmica com HTML5</a:t>
            </a:r>
            <a:endParaRPr lang="en-US" sz="1400" dirty="0"/>
          </a:p>
          <a:p>
            <a:pPr algn="l" indent="0" marL="0">
              <a:lnSpc>
                <a:spcPts val="1900"/>
              </a:lnSpc>
              <a:buNone/>
            </a:pPr>
            <a:r>
              <a:rPr lang="en-US" sz="1400" dirty="0">
                <a:solidFill>
                  <a:schemeClr val="tx1"/>
                </a:solidFill>
              </a:rPr>
              <a:t>7.2. Estilização Responsiva Avançada com CSS3</a:t>
            </a:r>
            <a:endParaRPr lang="en-US" sz="1400" dirty="0"/>
          </a:p>
          <a:p>
            <a:pPr algn="l" indent="0" marL="0">
              <a:lnSpc>
                <a:spcPts val="1900"/>
              </a:lnSpc>
              <a:buNone/>
            </a:pPr>
            <a:r>
              <a:rPr lang="en-US" sz="1400" dirty="0">
                <a:solidFill>
                  <a:schemeClr val="tx1"/>
                </a:solidFill>
              </a:rPr>
              <a:t>7.3. Manipulação Assíncrona do DOM via JavaScript</a:t>
            </a:r>
            <a:endParaRPr lang="en-US" sz="1400" dirty="0"/>
          </a:p>
          <a:p>
            <a:pPr algn="l" indent="0" marL="0">
              <a:lnSpc>
                <a:spcPts val="1900"/>
              </a:lnSpc>
              <a:buNone/>
            </a:pPr>
            <a:r>
              <a:rPr lang="en-US" sz="1400" b="1" dirty="0">
                <a:solidFill>
                  <a:schemeClr val="accent1"/>
                </a:solidFill>
              </a:rPr>
              <a:t>8. Pilha Tecnológica Selecionada (Back-end e Dados)</a:t>
            </a:r>
            <a:endParaRPr lang="en-US" sz="1400" dirty="0"/>
          </a:p>
          <a:p>
            <a:pPr algn="l" indent="0" marL="0">
              <a:lnSpc>
                <a:spcPts val="1900"/>
              </a:lnSpc>
              <a:buNone/>
            </a:pPr>
            <a:r>
              <a:rPr lang="en-US" sz="1400" dirty="0">
                <a:solidFill>
                  <a:schemeClr val="tx1"/>
                </a:solidFill>
              </a:rPr>
              <a:t>8.1. Lógica de Servidor Robustecida com PHP</a:t>
            </a:r>
            <a:endParaRPr lang="en-US" sz="1400" dirty="0"/>
          </a:p>
          <a:p>
            <a:pPr algn="l" indent="0" marL="0">
              <a:lnSpc>
                <a:spcPts val="1900"/>
              </a:lnSpc>
              <a:buNone/>
            </a:pPr>
            <a:r>
              <a:rPr lang="en-US" sz="1400" dirty="0">
                <a:solidFill>
                  <a:schemeClr val="tx1"/>
                </a:solidFill>
              </a:rPr>
              <a:t>8.2. Persistência e Engenharia de Dados em MySQL</a:t>
            </a:r>
            <a:endParaRPr lang="en-US" sz="1400" dirty="0"/>
          </a:p>
          <a:p>
            <a:pPr algn="l" indent="0" marL="0">
              <a:lnSpc>
                <a:spcPts val="1900"/>
              </a:lnSpc>
              <a:buNone/>
            </a:pPr>
            <a:r>
              <a:rPr lang="en-US" sz="1400" b="1" dirty="0">
                <a:solidFill>
                  <a:schemeClr val="accent1"/>
                </a:solidFill>
              </a:rPr>
              <a:t>9. Arquitetura Estrutural e Fluxos de Dados</a:t>
            </a:r>
            <a:endParaRPr lang="en-US" sz="1400" dirty="0"/>
          </a:p>
          <a:p>
            <a:pPr algn="l" indent="0" marL="0">
              <a:lnSpc>
                <a:spcPts val="1900"/>
              </a:lnSpc>
              <a:buNone/>
            </a:pPr>
            <a:r>
              <a:rPr lang="en-US" sz="1400" dirty="0">
                <a:solidFill>
                  <a:schemeClr val="tx1"/>
                </a:solidFill>
              </a:rPr>
              <a:t>9.1. Modelo Cliente-Servidor em Três Camadas</a:t>
            </a:r>
            <a:endParaRPr lang="en-US" sz="1400" dirty="0"/>
          </a:p>
          <a:p>
            <a:pPr algn="l" indent="0" marL="0">
              <a:lnSpc>
                <a:spcPts val="1900"/>
              </a:lnSpc>
              <a:buNone/>
            </a:pPr>
            <a:r>
              <a:rPr lang="en-US" sz="1400" dirty="0">
                <a:solidFill>
                  <a:schemeClr val="tx1"/>
                </a:solidFill>
              </a:rPr>
              <a:t>9.2. Mecanismos de Validação e Segurança Coletiva</a:t>
            </a:r>
            <a:endParaRPr lang="en-US" sz="1400" dirty="0"/>
          </a:p>
          <a:p>
            <a:pPr algn="l" indent="0" marL="0">
              <a:lnSpc>
                <a:spcPts val="1900"/>
              </a:lnSpc>
              <a:buNone/>
            </a:pPr>
            <a:r>
              <a:rPr lang="en-US" sz="1400" b="1" dirty="0">
                <a:solidFill>
                  <a:schemeClr val="accent1"/>
                </a:solidFill>
              </a:rPr>
              <a:t>10. Comparação Crítica das Ferramentas Computacionais</a:t>
            </a:r>
            <a:endParaRPr lang="en-US" sz="1400" dirty="0"/>
          </a:p>
          <a:p>
            <a:pPr algn="l" indent="0" marL="0">
              <a:lnSpc>
                <a:spcPts val="1900"/>
              </a:lnSpc>
              <a:buNone/>
            </a:pPr>
            <a:r>
              <a:rPr lang="en-US" sz="1400" dirty="0">
                <a:solidFill>
                  <a:schemeClr val="tx1"/>
                </a:solidFill>
              </a:rPr>
              <a:t>10.1. MySQL versus Abordagens Não Relacionais (NoSQL)</a:t>
            </a:r>
            <a:endParaRPr lang="en-US" sz="1400" dirty="0"/>
          </a:p>
          <a:p>
            <a:pPr algn="l" indent="0" marL="0">
              <a:lnSpc>
                <a:spcPts val="1900"/>
              </a:lnSpc>
              <a:buNone/>
            </a:pPr>
            <a:r>
              <a:rPr lang="en-US" sz="1400" dirty="0">
                <a:solidFill>
                  <a:schemeClr val="tx1"/>
                </a:solidFill>
              </a:rPr>
              <a:t>10.2. PHP Nativo versus Frameworks Pesados</a:t>
            </a:r>
            <a:endParaRPr lang="en-US" sz="1400" dirty="0"/>
          </a:p>
          <a:p>
            <a:pPr algn="l" indent="0" marL="0">
              <a:lnSpc>
                <a:spcPts val="1900"/>
              </a:lnSpc>
              <a:buNone/>
            </a:pPr>
            <a:r>
              <a:rPr lang="en-US" sz="1400" b="1" dirty="0">
                <a:solidFill>
                  <a:schemeClr val="accent1"/>
                </a:solidFill>
              </a:rPr>
              <a:t>11. Conclusões e Considerações Finais</a:t>
            </a:r>
            <a:endParaRPr lang="en-US" sz="1400" dirty="0"/>
          </a:p>
          <a:p>
            <a:pPr algn="l" indent="0" marL="0">
              <a:lnSpc>
                <a:spcPts val="1900"/>
              </a:lnSpc>
              <a:buNone/>
            </a:pPr>
            <a:r>
              <a:rPr lang="en-US" sz="1400" dirty="0">
                <a:solidFill>
                  <a:schemeClr val="tx1"/>
                </a:solidFill>
              </a:rPr>
              <a:t>11.1. Contribuições Principais do Protótipo</a:t>
            </a:r>
            <a:endParaRPr lang="en-US" sz="1400" dirty="0"/>
          </a:p>
          <a:p>
            <a:pPr algn="l" indent="0" marL="0">
              <a:lnSpc>
                <a:spcPts val="1900"/>
              </a:lnSpc>
              <a:buNone/>
            </a:pPr>
            <a:r>
              <a:rPr lang="en-US" sz="1400" dirty="0">
                <a:solidFill>
                  <a:schemeClr val="tx1"/>
                </a:solidFill>
              </a:rPr>
              <a:t>11.2. Limitações Identificadas e Trabalhos Futuros</a:t>
            </a:r>
            <a:endParaRPr lang="en-US" sz="1400" dirty="0"/>
          </a:p>
          <a:p>
            <a:pPr algn="l" indent="0" marL="0">
              <a:lnSpc>
                <a:spcPts val="1900"/>
              </a:lnSpc>
              <a:buNone/>
            </a:pPr>
            <a:r>
              <a:rPr lang="en-US" sz="1400" b="1" dirty="0">
                <a:solidFill>
                  <a:schemeClr val="accent1"/>
                </a:solidFill>
              </a:rPr>
              <a:t>12. Referências Bibliográficas</a:t>
            </a:r>
            <a:endParaRPr lang="en-US" sz="1400" dirty="0"/>
          </a:p>
        </p:txBody>
      </p:sp>
      <p:sp>
        <p:nvSpPr>
          <p:cNvPr id="7" name="Sumário slides"/>
          <p:cNvSpPr txBox="1"/>
          <p:nvPr/>
        </p:nvSpPr>
        <p:spPr>
          <a:xfrm>
            <a:off x="11338560" y="1783080"/>
            <a:ext cx="411480" cy="4572000"/>
          </a:xfrm>
          <a:prstGeom prst="rect">
            <a:avLst/>
          </a:prstGeom>
          <a:noFill/>
          <a:ln/>
        </p:spPr>
        <p:txBody>
          <a:bodyPr wrap="square" lIns="0" tIns="0" rIns="0" bIns="0" rtlCol="0" anchor="t"/>
          <a:lstStyle/>
          <a:p>
            <a:pPr algn="r" indent="0" marL="0">
              <a:lnSpc>
                <a:spcPts val="1900"/>
              </a:lnSpc>
              <a:buNone/>
            </a:pPr>
            <a:r>
              <a:rPr lang="en-US" sz="1400" b="1" dirty="0">
                <a:solidFill>
                  <a:schemeClr val="accent1"/>
                </a:solidFill>
              </a:rPr>
              <a:t>15</a:t>
            </a:r>
            <a:endParaRPr lang="en-US" sz="1400" dirty="0"/>
          </a:p>
          <a:p>
            <a:pPr algn="r" indent="0" marL="0">
              <a:lnSpc>
                <a:spcPts val="1900"/>
              </a:lnSpc>
              <a:buNone/>
            </a:pPr>
            <a:r>
              <a:rPr lang="en-US" sz="1400" dirty="0">
                <a:solidFill>
                  <a:schemeClr val="tx1"/>
                </a:solidFill>
              </a:rPr>
              <a:t>15</a:t>
            </a:r>
            <a:endParaRPr lang="en-US" sz="1400" dirty="0"/>
          </a:p>
          <a:p>
            <a:pPr algn="r" indent="0" marL="0">
              <a:lnSpc>
                <a:spcPts val="1900"/>
              </a:lnSpc>
              <a:buNone/>
            </a:pPr>
            <a:r>
              <a:rPr lang="en-US" sz="1400" dirty="0">
                <a:solidFill>
                  <a:schemeClr val="tx1"/>
                </a:solidFill>
              </a:rPr>
              <a:t>16</a:t>
            </a:r>
            <a:endParaRPr lang="en-US" sz="1400" dirty="0"/>
          </a:p>
          <a:p>
            <a:pPr algn="r" indent="0" marL="0">
              <a:lnSpc>
                <a:spcPts val="1900"/>
              </a:lnSpc>
              <a:buNone/>
            </a:pPr>
            <a:r>
              <a:rPr lang="en-US" sz="1400" dirty="0">
                <a:solidFill>
                  <a:schemeClr val="tx1"/>
                </a:solidFill>
              </a:rPr>
              <a:t>17</a:t>
            </a:r>
            <a:endParaRPr lang="en-US" sz="1400" dirty="0"/>
          </a:p>
          <a:p>
            <a:pPr algn="r" indent="0" marL="0">
              <a:lnSpc>
                <a:spcPts val="1900"/>
              </a:lnSpc>
              <a:buNone/>
            </a:pPr>
            <a:r>
              <a:rPr lang="en-US" sz="1400" b="1" dirty="0">
                <a:solidFill>
                  <a:schemeClr val="accent1"/>
                </a:solidFill>
              </a:rPr>
              <a:t>18</a:t>
            </a:r>
            <a:endParaRPr lang="en-US" sz="1400" dirty="0"/>
          </a:p>
          <a:p>
            <a:pPr algn="r" indent="0" marL="0">
              <a:lnSpc>
                <a:spcPts val="1900"/>
              </a:lnSpc>
              <a:buNone/>
            </a:pPr>
            <a:r>
              <a:rPr lang="en-US" sz="1400" dirty="0">
                <a:solidFill>
                  <a:schemeClr val="tx1"/>
                </a:solidFill>
              </a:rPr>
              <a:t>18</a:t>
            </a:r>
            <a:endParaRPr lang="en-US" sz="1400" dirty="0"/>
          </a:p>
          <a:p>
            <a:pPr algn="r" indent="0" marL="0">
              <a:lnSpc>
                <a:spcPts val="1900"/>
              </a:lnSpc>
              <a:buNone/>
            </a:pPr>
            <a:r>
              <a:rPr lang="en-US" sz="1400" dirty="0">
                <a:solidFill>
                  <a:schemeClr val="tx1"/>
                </a:solidFill>
              </a:rPr>
              <a:t>19</a:t>
            </a:r>
            <a:endParaRPr lang="en-US" sz="1400" dirty="0"/>
          </a:p>
          <a:p>
            <a:pPr algn="r" indent="0" marL="0">
              <a:lnSpc>
                <a:spcPts val="1900"/>
              </a:lnSpc>
              <a:buNone/>
            </a:pPr>
            <a:r>
              <a:rPr lang="en-US" sz="1400" b="1" dirty="0">
                <a:solidFill>
                  <a:schemeClr val="accent1"/>
                </a:solidFill>
              </a:rPr>
              <a:t>20</a:t>
            </a:r>
            <a:endParaRPr lang="en-US" sz="1400" dirty="0"/>
          </a:p>
          <a:p>
            <a:pPr algn="r" indent="0" marL="0">
              <a:lnSpc>
                <a:spcPts val="1900"/>
              </a:lnSpc>
              <a:buNone/>
            </a:pPr>
            <a:r>
              <a:rPr lang="en-US" sz="1400" dirty="0">
                <a:solidFill>
                  <a:schemeClr val="tx1"/>
                </a:solidFill>
              </a:rPr>
              <a:t>20</a:t>
            </a:r>
            <a:endParaRPr lang="en-US" sz="1400" dirty="0"/>
          </a:p>
          <a:p>
            <a:pPr algn="r" indent="0" marL="0">
              <a:lnSpc>
                <a:spcPts val="1900"/>
              </a:lnSpc>
              <a:buNone/>
            </a:pPr>
            <a:r>
              <a:rPr lang="en-US" sz="1400" dirty="0">
                <a:solidFill>
                  <a:schemeClr val="tx1"/>
                </a:solidFill>
              </a:rPr>
              <a:t>21</a:t>
            </a:r>
            <a:endParaRPr lang="en-US" sz="1400" dirty="0"/>
          </a:p>
          <a:p>
            <a:pPr algn="r" indent="0" marL="0">
              <a:lnSpc>
                <a:spcPts val="1900"/>
              </a:lnSpc>
              <a:buNone/>
            </a:pPr>
            <a:r>
              <a:rPr lang="en-US" sz="1400" b="1" dirty="0">
                <a:solidFill>
                  <a:schemeClr val="accent1"/>
                </a:solidFill>
              </a:rPr>
              <a:t>22</a:t>
            </a:r>
            <a:endParaRPr lang="en-US" sz="1400" dirty="0"/>
          </a:p>
          <a:p>
            <a:pPr algn="r" indent="0" marL="0">
              <a:lnSpc>
                <a:spcPts val="1900"/>
              </a:lnSpc>
              <a:buNone/>
            </a:pPr>
            <a:r>
              <a:rPr lang="en-US" sz="1400" dirty="0">
                <a:solidFill>
                  <a:schemeClr val="tx1"/>
                </a:solidFill>
              </a:rPr>
              <a:t>22</a:t>
            </a:r>
            <a:endParaRPr lang="en-US" sz="1400" dirty="0"/>
          </a:p>
          <a:p>
            <a:pPr algn="r" indent="0" marL="0">
              <a:lnSpc>
                <a:spcPts val="1900"/>
              </a:lnSpc>
              <a:buNone/>
            </a:pPr>
            <a:r>
              <a:rPr lang="en-US" sz="1400" dirty="0">
                <a:solidFill>
                  <a:schemeClr val="tx1"/>
                </a:solidFill>
              </a:rPr>
              <a:t>23</a:t>
            </a:r>
            <a:endParaRPr lang="en-US" sz="1400" dirty="0"/>
          </a:p>
          <a:p>
            <a:pPr algn="r" indent="0" marL="0">
              <a:lnSpc>
                <a:spcPts val="1900"/>
              </a:lnSpc>
              <a:buNone/>
            </a:pPr>
            <a:r>
              <a:rPr lang="en-US" sz="1400" b="1" dirty="0">
                <a:solidFill>
                  <a:schemeClr val="accent1"/>
                </a:solidFill>
              </a:rPr>
              <a:t>24</a:t>
            </a:r>
            <a:endParaRPr lang="en-US" sz="1400" dirty="0"/>
          </a:p>
          <a:p>
            <a:pPr algn="r" indent="0" marL="0">
              <a:lnSpc>
                <a:spcPts val="1900"/>
              </a:lnSpc>
              <a:buNone/>
            </a:pPr>
            <a:r>
              <a:rPr lang="en-US" sz="1400" dirty="0">
                <a:solidFill>
                  <a:schemeClr val="tx1"/>
                </a:solidFill>
              </a:rPr>
              <a:t>24</a:t>
            </a:r>
            <a:endParaRPr lang="en-US" sz="1400" dirty="0"/>
          </a:p>
          <a:p>
            <a:pPr algn="r" indent="0" marL="0">
              <a:lnSpc>
                <a:spcPts val="1900"/>
              </a:lnSpc>
              <a:buNone/>
            </a:pPr>
            <a:r>
              <a:rPr lang="en-US" sz="1400" dirty="0">
                <a:solidFill>
                  <a:schemeClr val="tx1"/>
                </a:solidFill>
              </a:rPr>
              <a:t>25</a:t>
            </a:r>
            <a:endParaRPr lang="en-US" sz="1400" dirty="0"/>
          </a:p>
          <a:p>
            <a:pPr algn="r" indent="0" marL="0">
              <a:lnSpc>
                <a:spcPts val="1900"/>
              </a:lnSpc>
              <a:buNone/>
            </a:pPr>
            <a:r>
              <a:rPr lang="en-US" sz="1400" b="1" dirty="0">
                <a:solidFill>
                  <a:schemeClr val="accent1"/>
                </a:solidFill>
              </a:rPr>
              <a:t>26</a:t>
            </a:r>
            <a:endParaRPr lang="en-US" sz="14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1. Introdução e Enquadramento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1.1. Contextualização Histórica e Social</a:t>
            </a:r>
            <a:endParaRPr lang="en-US" sz="3200" dirty="0"/>
          </a:p>
        </p:txBody>
      </p:sp>
      <p:sp>
        <p:nvSpPr>
          <p:cNvPr id="4" name="painel"/>
          <p:cNvSpPr/>
          <p:nvPr/>
        </p:nvSpPr>
        <p:spPr>
          <a:xfrm>
            <a:off x="457200" y="1828800"/>
            <a:ext cx="11274552" cy="4116832"/>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urbanização acelerada vivida pelas metrópoles contemporâneas impõe severos desafios na gestão de redes de infraestrutura crítica. A distribuição de água potável e de energia elétrica constitui a espinha dorsal do desenvolvimento económico e da dignidade humana. Contudo, em cenários de transição demográfica e escassez estrutural, a intermitência no fornecimento torna-se um fenómeno recorrente, muitas vezes agravado pela ausência de canais fluidos de comunicação transparente. Conforme enfatizado por Castells (2011), a sociedade contemporânea organiza-se em torno de redes estruturadas de informação; onde o fluxo informativo falha, geram-se zonas de exclusão e uma acentuada ineficiência na alocação de recursos básicos e no planeamento das atividades diárias.</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1. Introdução e Enquadramento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1.2. Justificação Científica e Prática do Tema</a:t>
            </a:r>
            <a:endParaRPr lang="en-US" sz="3200" dirty="0"/>
          </a:p>
        </p:txBody>
      </p:sp>
      <p:sp>
        <p:nvSpPr>
          <p:cNvPr id="4" name="painel"/>
          <p:cNvSpPr/>
          <p:nvPr/>
        </p:nvSpPr>
        <p:spPr>
          <a:xfrm>
            <a:off x="457200" y="1828800"/>
            <a:ext cx="11274552" cy="4116832"/>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presente investigação justifica-se pela urgente necessidade de aplicar os princípios da Engenharia de Software no desenvolvimento de mecanismos de Governação Eletrónica (e-Governance) à escala hiperlocal. Os sistemas tradicionais das concessionárias públicas tendem a centralizar os canais de reclamação em call centers saturados, gerando um atraso significativo no mapeamento de avarias. Este trabalho propõe um modelo inovador focado no bairro como unidade atómica de análise. Ao democratizar a inserção de dados e usar algoritmos de validação coletiva, o protótipo não só reduz a assimetria informática, mas fornece também dados estruturados vitais para que a comunidade possa mitigar danos económicos através da ativação atempada de sistemas de reserva ou geradores.</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2. Estudo de Caso e Diagnóstico Urbano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2.1. O Cenário da Região Metropolitana de Luanda</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Região Metropolitana de Luanda serve como o laboratório empírico para este estudo. Com uma população que ultrapassa os 9 milhões de habitantes, a cidade enfrenta um crescimento demográfico descompassado em relação à capacidade de expansão das redes técnicas geridas pela Empresa Pública de Águas de Luanda (EPAL) e pela Empresa Nacional de Distribuição de Electricidade (ENDE). Os cortes rotativos e as avarias mecânicas ou elétricas prolongadas são frequentes. A dispersão geográfica e a divisão administrativa complexa dificultam uma monitorização uniforme por parte dos órgãos fiscalizadores, deixando largas franjas da população sem previsibilidade sobre a disponibilidade destes recursos essenciais.</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2. Estudo de Caso e Diagnóstico Urbano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2.2. Fluxo Atual de Informações Informais</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Na ausência de uma plataforma oficial centralizada de monitorização em tempo real, os munícipes recorrem massivamente a redes sociais generalistas (como Facebook, WhatsApp e X) para partilhar o estado dos serviços públicos. Quando a energia falha ou o abastecimento de água é interrompido, os cidadãos publicam questões em grupos de vizinhos para discernir se a ocorrência é restrita à sua habitação ou geral ao bairro. Como aponta Sommerville (2011), este tipo de recolha de dados informal carece de estruturação, possui alto índice de ruído informativo, não gera histórico quantificável para auditorias e impede a automação de alertas urgentes, validando a necessidade da criação deste protótipo focado.</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3. Engenharia de Requisitos do Sistema</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3.1. Requisitos Funcionais (RF)</a:t>
            </a:r>
            <a:endParaRPr lang="en-US" sz="3200" dirty="0"/>
          </a:p>
        </p:txBody>
      </p:sp>
      <p:sp>
        <p:nvSpPr>
          <p:cNvPr id="4" name="Text 2"/>
          <p:cNvSpPr txBox="1"/>
          <p:nvPr/>
        </p:nvSpPr>
        <p:spPr>
          <a:xfrm>
            <a:off x="457200" y="1783080"/>
            <a:ext cx="11274552" cy="640080"/>
          </a:xfrm>
          <a:prstGeom prst="rect">
            <a:avLst/>
          </a:prstGeom>
          <a:noFill/>
          <a:ln/>
        </p:spPr>
        <p:txBody>
          <a:bodyPr wrap="square" lIns="0" tIns="0" rIns="0" bIns="0" rtlCol="0" anchor="t"/>
          <a:lstStyle/>
          <a:p>
            <a:pPr indent="0" marL="0">
              <a:buNone/>
            </a:pPr>
            <a:r>
              <a:rPr lang="en-US" sz="1700" dirty="0">
                <a:solidFill>
                  <a:schemeClr val="tx1"/>
                </a:solidFill>
              </a:rPr>
              <a:t>Os requisitos funcionais definem as operações explícitas que o sistema computacional deve realizar para cumprir o seu propósito de negócio (Pressman &amp; Maxim, 2016). Foram mapeados os seguintes requisitos fundamentais para o protótipo:</a:t>
            </a:r>
            <a:endParaRPr lang="en-US" sz="1700" dirty="0"/>
          </a:p>
        </p:txBody>
      </p:sp>
      <p:sp>
        <p:nvSpPr>
          <p:cNvPr id="5" name="RF-001"/>
          <p:cNvSpPr/>
          <p:nvPr/>
        </p:nvSpPr>
        <p:spPr>
          <a:xfrm>
            <a:off x="457200" y="2606040"/>
            <a:ext cx="5486400" cy="1783080"/>
          </a:xfrm>
          <a:prstGeom prst="rect">
            <a:avLst/>
          </a:prstGeom>
          <a:solidFill>
            <a:schemeClr val="bg2"/>
          </a:solidFill>
          <a:ln/>
        </p:spPr>
        <p:txBody>
          <a:bodyPr wrap="square" lIns="177800" tIns="177800" rIns="177800" bIns="177800" rtlCol="0" anchor="t"/>
          <a:lstStyle/>
          <a:p>
            <a:pPr algn="l" indent="0" marL="0">
              <a:buNone/>
            </a:pPr>
            <a:r>
              <a:rPr lang="en-US" sz="1700" b="1" dirty="0">
                <a:solidFill>
                  <a:schemeClr val="accent1"/>
                </a:solidFill>
              </a:rPr>
              <a:t>RF-001  </a:t>
            </a:r>
            <a:pPr algn="l" indent="0" marL="0">
              <a:buNone/>
            </a:pPr>
            <a:r>
              <a:rPr lang="en-US" sz="1700" b="1" dirty="0">
                <a:solidFill>
                  <a:schemeClr val="tx1"/>
                </a:solidFill>
              </a:rPr>
              <a:t>Registo e Gestão de Perfil</a:t>
            </a:r>
            <a:endParaRPr lang="en-US" sz="1700" dirty="0"/>
          </a:p>
          <a:p>
            <a:pPr algn="l" indent="0" marL="0">
              <a:spcBef>
                <a:spcPts val="600"/>
              </a:spcBef>
              <a:buNone/>
            </a:pPr>
            <a:r>
              <a:rPr lang="en-US" sz="1500" dirty="0">
                <a:solidFill>
                  <a:schemeClr val="tx1"/>
                </a:solidFill>
              </a:rPr>
              <a:t>O sistema deve permitir que qualquer cidadão realize o seu cadastro através do fornecimento de um nome válido, e-mail único, palavra-passe forte e a seleção obrigatória do seu bairro de residência a partir de uma lista parametrizada.</a:t>
            </a:r>
            <a:endParaRPr lang="en-US" sz="1700" dirty="0"/>
          </a:p>
        </p:txBody>
      </p:sp>
      <p:sp>
        <p:nvSpPr>
          <p:cNvPr id="6" name="RF-002"/>
          <p:cNvSpPr/>
          <p:nvPr/>
        </p:nvSpPr>
        <p:spPr>
          <a:xfrm>
            <a:off x="6245352" y="2606040"/>
            <a:ext cx="5486400" cy="1783080"/>
          </a:xfrm>
          <a:prstGeom prst="rect">
            <a:avLst/>
          </a:prstGeom>
          <a:solidFill>
            <a:schemeClr val="bg2"/>
          </a:solidFill>
          <a:ln/>
        </p:spPr>
        <p:txBody>
          <a:bodyPr wrap="square" lIns="177800" tIns="177800" rIns="177800" bIns="177800" rtlCol="0" anchor="t"/>
          <a:lstStyle/>
          <a:p>
            <a:pPr algn="l" indent="0" marL="0">
              <a:buNone/>
            </a:pPr>
            <a:r>
              <a:rPr lang="en-US" sz="1700" b="1" dirty="0">
                <a:solidFill>
                  <a:schemeClr val="accent1"/>
                </a:solidFill>
              </a:rPr>
              <a:t>RF-002  </a:t>
            </a:r>
            <a:pPr algn="l" indent="0" marL="0">
              <a:buNone/>
            </a:pPr>
            <a:r>
              <a:rPr lang="en-US" sz="1700" b="1" dirty="0">
                <a:solidFill>
                  <a:schemeClr val="tx1"/>
                </a:solidFill>
              </a:rPr>
              <a:t>Submissão Unificada de Ocorrências</a:t>
            </a:r>
            <a:endParaRPr lang="en-US" sz="1700" dirty="0"/>
          </a:p>
          <a:p>
            <a:pPr algn="l" indent="0" marL="0">
              <a:spcBef>
                <a:spcPts val="600"/>
              </a:spcBef>
              <a:buNone/>
            </a:pPr>
            <a:r>
              <a:rPr lang="en-US" sz="1500" dirty="0">
                <a:solidFill>
                  <a:schemeClr val="tx1"/>
                </a:solidFill>
              </a:rPr>
              <a:t>O utilizador autenticado deve poder registar de forma simples a falta de água, falta de energia ou ambas, associando automaticamente o timestamp e o bairro correspondente.</a:t>
            </a:r>
            <a:endParaRPr lang="en-US" sz="1700" dirty="0"/>
          </a:p>
        </p:txBody>
      </p:sp>
      <p:sp>
        <p:nvSpPr>
          <p:cNvPr id="7" name="RF-003"/>
          <p:cNvSpPr/>
          <p:nvPr/>
        </p:nvSpPr>
        <p:spPr>
          <a:xfrm>
            <a:off x="457200" y="4572000"/>
            <a:ext cx="5486400" cy="1783080"/>
          </a:xfrm>
          <a:prstGeom prst="rect">
            <a:avLst/>
          </a:prstGeom>
          <a:solidFill>
            <a:schemeClr val="bg2"/>
          </a:solidFill>
          <a:ln/>
        </p:spPr>
        <p:txBody>
          <a:bodyPr wrap="square" lIns="177800" tIns="177800" rIns="177800" bIns="177800" rtlCol="0" anchor="t"/>
          <a:lstStyle/>
          <a:p>
            <a:pPr algn="l" indent="0" marL="0">
              <a:buNone/>
            </a:pPr>
            <a:r>
              <a:rPr lang="en-US" sz="1700" b="1" dirty="0">
                <a:solidFill>
                  <a:schemeClr val="accent1"/>
                </a:solidFill>
              </a:rPr>
              <a:t>RF-003  </a:t>
            </a:r>
            <a:pPr algn="l" indent="0" marL="0">
              <a:buNone/>
            </a:pPr>
            <a:r>
              <a:rPr lang="en-US" sz="1700" b="1" dirty="0">
                <a:solidFill>
                  <a:schemeClr val="tx1"/>
                </a:solidFill>
              </a:rPr>
              <a:t>Dashboard Público Consolidado</a:t>
            </a:r>
            <a:endParaRPr lang="en-US" sz="1700" dirty="0"/>
          </a:p>
          <a:p>
            <a:pPr algn="l" indent="0" marL="0">
              <a:spcBef>
                <a:spcPts val="600"/>
              </a:spcBef>
              <a:buNone/>
            </a:pPr>
            <a:r>
              <a:rPr lang="en-US" sz="1500" dirty="0">
                <a:solidFill>
                  <a:schemeClr val="tx1"/>
                </a:solidFill>
              </a:rPr>
              <a:t>A página inicial do sistema deve exibir publicamente uma tabela ou grelha de todos os bairros, ilustrando visualmente o estado atual do fornecimento (Normal, Alerta Crítico ou Manutenção Planeada).</a:t>
            </a:r>
            <a:endParaRPr lang="en-US" sz="1700" dirty="0"/>
          </a:p>
        </p:txBody>
      </p:sp>
      <p:sp>
        <p:nvSpPr>
          <p:cNvPr id="8" name="RF-004"/>
          <p:cNvSpPr/>
          <p:nvPr/>
        </p:nvSpPr>
        <p:spPr>
          <a:xfrm>
            <a:off x="6245352" y="4572000"/>
            <a:ext cx="5486400" cy="1783080"/>
          </a:xfrm>
          <a:prstGeom prst="rect">
            <a:avLst/>
          </a:prstGeom>
          <a:solidFill>
            <a:schemeClr val="bg2"/>
          </a:solidFill>
          <a:ln/>
        </p:spPr>
        <p:txBody>
          <a:bodyPr wrap="square" lIns="177800" tIns="177800" rIns="177800" bIns="177800" rtlCol="0" anchor="t"/>
          <a:lstStyle/>
          <a:p>
            <a:pPr algn="l" indent="0" marL="0">
              <a:buNone/>
            </a:pPr>
            <a:r>
              <a:rPr lang="en-US" sz="1700" b="1" dirty="0">
                <a:solidFill>
                  <a:schemeClr val="accent1"/>
                </a:solidFill>
              </a:rPr>
              <a:t>RF-004  </a:t>
            </a:r>
            <a:pPr algn="l" indent="0" marL="0">
              <a:buNone/>
            </a:pPr>
            <a:r>
              <a:rPr lang="en-US" sz="1700" b="1" dirty="0">
                <a:solidFill>
                  <a:schemeClr val="tx1"/>
                </a:solidFill>
              </a:rPr>
              <a:t>Consolidação Algorítmica</a:t>
            </a:r>
            <a:endParaRPr lang="en-US" sz="1700" dirty="0"/>
          </a:p>
          <a:p>
            <a:pPr algn="l" indent="0" marL="0">
              <a:spcBef>
                <a:spcPts val="600"/>
              </a:spcBef>
              <a:buNone/>
            </a:pPr>
            <a:r>
              <a:rPr lang="en-US" sz="1500" dirty="0">
                <a:solidFill>
                  <a:schemeClr val="tx1"/>
                </a:solidFill>
              </a:rPr>
              <a:t>O sistema deve agregar alertas idênticos. O estado de um bairro mudará para ‘Alerta Crítico’ apenas quando o número de relatos independentes atingir um limiar parametrizável (ex: mais de 5 relatos em menos de 2 horas).</a:t>
            </a:r>
            <a:endParaRPr lang="en-US" sz="17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3. Engenharia de Requisitos do Sistema</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3.2. Requisitos Não Funcionais (RNF)</a:t>
            </a:r>
            <a:endParaRPr lang="en-US" sz="3200" dirty="0"/>
          </a:p>
        </p:txBody>
      </p:sp>
      <p:sp>
        <p:nvSpPr>
          <p:cNvPr id="4" name="Text 2"/>
          <p:cNvSpPr txBox="1"/>
          <p:nvPr/>
        </p:nvSpPr>
        <p:spPr>
          <a:xfrm>
            <a:off x="457200" y="1783080"/>
            <a:ext cx="11274552" cy="640080"/>
          </a:xfrm>
          <a:prstGeom prst="rect">
            <a:avLst/>
          </a:prstGeom>
          <a:noFill/>
          <a:ln/>
        </p:spPr>
        <p:txBody>
          <a:bodyPr wrap="square" lIns="0" tIns="0" rIns="0" bIns="0" rtlCol="0" anchor="t"/>
          <a:lstStyle/>
          <a:p>
            <a:pPr indent="0" marL="0">
              <a:buNone/>
            </a:pPr>
            <a:r>
              <a:rPr lang="en-US" sz="1800" dirty="0">
                <a:solidFill>
                  <a:schemeClr val="tx1"/>
                </a:solidFill>
              </a:rPr>
              <a:t>Os requisitos não funcionais determinam as restrições de qualidade, desempenho e segurança do ecossistema tecnológico:</a:t>
            </a:r>
            <a:endParaRPr lang="en-US" sz="1800" dirty="0"/>
          </a:p>
        </p:txBody>
      </p:sp>
      <p:sp>
        <p:nvSpPr>
          <p:cNvPr id="5" name="RNF-001"/>
          <p:cNvSpPr/>
          <p:nvPr/>
        </p:nvSpPr>
        <p:spPr>
          <a:xfrm>
            <a:off x="457200" y="2697480"/>
            <a:ext cx="3584448" cy="3383280"/>
          </a:xfrm>
          <a:prstGeom prst="rect">
            <a:avLst/>
          </a:prstGeom>
          <a:solidFill>
            <a:schemeClr val="bg2"/>
          </a:solidFill>
          <a:ln/>
        </p:spPr>
        <p:txBody>
          <a:bodyPr wrap="square" lIns="228600" tIns="228600" rIns="228600" bIns="228600" rtlCol="0" anchor="t"/>
          <a:lstStyle/>
          <a:p>
            <a:pPr algn="l" indent="0" marL="0">
              <a:buNone/>
            </a:pPr>
            <a:r>
              <a:rPr lang="en-US" sz="2000" b="1" dirty="0">
                <a:solidFill>
                  <a:schemeClr val="accent1"/>
                </a:solidFill>
              </a:rPr>
              <a:t>RNF-001</a:t>
            </a:r>
            <a:endParaRPr lang="en-US" sz="2000" dirty="0"/>
          </a:p>
          <a:p>
            <a:pPr algn="l" indent="0" marL="0">
              <a:spcBef>
                <a:spcPts val="200"/>
              </a:spcBef>
              <a:buNone/>
            </a:pPr>
            <a:r>
              <a:rPr lang="en-US" sz="1700" b="1" dirty="0">
                <a:solidFill>
                  <a:schemeClr val="tx1"/>
                </a:solidFill>
              </a:rPr>
              <a:t>Disponibilidade Operacional</a:t>
            </a:r>
            <a:endParaRPr lang="en-US" sz="2000" dirty="0"/>
          </a:p>
          <a:p>
            <a:pPr algn="l" indent="0" marL="0">
              <a:spcBef>
                <a:spcPts val="1000"/>
              </a:spcBef>
              <a:buNone/>
            </a:pPr>
            <a:r>
              <a:rPr lang="en-US" sz="1600" dirty="0">
                <a:solidFill>
                  <a:schemeClr val="tx1"/>
                </a:solidFill>
              </a:rPr>
              <a:t>O sistema web deve apresentar uma taxa de uptime igual ou superior a 99,5%, operando continuamente numa infraestrutura tolerante a falhas.</a:t>
            </a:r>
            <a:endParaRPr lang="en-US" sz="2000" dirty="0"/>
          </a:p>
        </p:txBody>
      </p:sp>
      <p:sp>
        <p:nvSpPr>
          <p:cNvPr id="6" name="RNF-002"/>
          <p:cNvSpPr/>
          <p:nvPr/>
        </p:nvSpPr>
        <p:spPr>
          <a:xfrm>
            <a:off x="4302252" y="2697480"/>
            <a:ext cx="3584448" cy="3383280"/>
          </a:xfrm>
          <a:prstGeom prst="rect">
            <a:avLst/>
          </a:prstGeom>
          <a:solidFill>
            <a:schemeClr val="bg2"/>
          </a:solidFill>
          <a:ln/>
        </p:spPr>
        <p:txBody>
          <a:bodyPr wrap="square" lIns="228600" tIns="228600" rIns="228600" bIns="228600" rtlCol="0" anchor="t"/>
          <a:lstStyle/>
          <a:p>
            <a:pPr algn="l" indent="0" marL="0">
              <a:buNone/>
            </a:pPr>
            <a:r>
              <a:rPr lang="en-US" sz="2000" b="1" dirty="0">
                <a:solidFill>
                  <a:schemeClr val="accent1"/>
                </a:solidFill>
              </a:rPr>
              <a:t>RNF-002</a:t>
            </a:r>
            <a:endParaRPr lang="en-US" sz="2000" dirty="0"/>
          </a:p>
          <a:p>
            <a:pPr algn="l" indent="0" marL="0">
              <a:spcBef>
                <a:spcPts val="200"/>
              </a:spcBef>
              <a:buNone/>
            </a:pPr>
            <a:r>
              <a:rPr lang="en-US" sz="1700" b="1" dirty="0">
                <a:solidFill>
                  <a:schemeClr val="tx1"/>
                </a:solidFill>
              </a:rPr>
              <a:t>Desempenho sob Concorrência</a:t>
            </a:r>
            <a:endParaRPr lang="en-US" sz="2000" dirty="0"/>
          </a:p>
          <a:p>
            <a:pPr algn="l" indent="0" marL="0">
              <a:spcBef>
                <a:spcPts val="1000"/>
              </a:spcBef>
              <a:buNone/>
            </a:pPr>
            <a:r>
              <a:rPr lang="en-US" sz="1600" dirty="0">
                <a:solidFill>
                  <a:schemeClr val="tx1"/>
                </a:solidFill>
              </a:rPr>
              <a:t>O tempo de carregamento do Dashboard público não deve exceder os 2,0 segundos sob uma largura de banda reduzida, típica de conexões de dados móveis (3G/4G) na periferia urbana.</a:t>
            </a:r>
            <a:endParaRPr lang="en-US" sz="2000" dirty="0"/>
          </a:p>
        </p:txBody>
      </p:sp>
      <p:sp>
        <p:nvSpPr>
          <p:cNvPr id="7" name="RNF-003"/>
          <p:cNvSpPr/>
          <p:nvPr/>
        </p:nvSpPr>
        <p:spPr>
          <a:xfrm>
            <a:off x="8147304" y="2697480"/>
            <a:ext cx="3584448" cy="3383280"/>
          </a:xfrm>
          <a:prstGeom prst="rect">
            <a:avLst/>
          </a:prstGeom>
          <a:solidFill>
            <a:schemeClr val="bg2"/>
          </a:solidFill>
          <a:ln/>
        </p:spPr>
        <p:txBody>
          <a:bodyPr wrap="square" lIns="228600" tIns="228600" rIns="228600" bIns="228600" rtlCol="0" anchor="t"/>
          <a:lstStyle/>
          <a:p>
            <a:pPr algn="l" indent="0" marL="0">
              <a:buNone/>
            </a:pPr>
            <a:r>
              <a:rPr lang="en-US" sz="2000" b="1" dirty="0">
                <a:solidFill>
                  <a:schemeClr val="accent1"/>
                </a:solidFill>
              </a:rPr>
              <a:t>RNF-003</a:t>
            </a:r>
            <a:endParaRPr lang="en-US" sz="2000" dirty="0"/>
          </a:p>
          <a:p>
            <a:pPr algn="l" indent="0" marL="0">
              <a:spcBef>
                <a:spcPts val="200"/>
              </a:spcBef>
              <a:buNone/>
            </a:pPr>
            <a:r>
              <a:rPr lang="en-US" sz="1700" b="1" dirty="0">
                <a:solidFill>
                  <a:schemeClr val="tx1"/>
                </a:solidFill>
              </a:rPr>
              <a:t>Segurança da Informação</a:t>
            </a:r>
            <a:endParaRPr lang="en-US" sz="2000" dirty="0"/>
          </a:p>
          <a:p>
            <a:pPr algn="l" indent="0" marL="0">
              <a:spcBef>
                <a:spcPts val="1000"/>
              </a:spcBef>
              <a:buNone/>
            </a:pPr>
            <a:r>
              <a:rPr lang="en-US" sz="1600" dirty="0">
                <a:solidFill>
                  <a:schemeClr val="tx1"/>
                </a:solidFill>
              </a:rPr>
              <a:t>Todas as credenciais de acesso devem ser submetidas a hashing criptográfico seguro (SHA-256 ou Bcrypt) antes da persistência na base de dados, prevenindo fugas de informação.</a:t>
            </a:r>
            <a:endParaRPr lang="en-US" sz="20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4. Problematização e Questão de Investigação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4.1. Delimitação Clara do Problema Técnico</a:t>
            </a:r>
            <a:endParaRPr lang="en-US" sz="3200" dirty="0"/>
          </a:p>
        </p:txBody>
      </p:sp>
      <p:sp>
        <p:nvSpPr>
          <p:cNvPr id="4" name="painel"/>
          <p:cNvSpPr/>
          <p:nvPr/>
        </p:nvSpPr>
        <p:spPr>
          <a:xfrm>
            <a:off x="457200" y="1828800"/>
            <a:ext cx="11274552" cy="3379216"/>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opacidade informacional crónica na gestão do abastecimento público gera lacunas operacionais severas. As concessionárias (EPAL/ENDE) carecem de telemetria em tempo real em todas as subestações e ramais de distribuição. Consequentemente, a deteção de avarias mecânicas nos condutos de água ou ruturas em transformadores elétricos de média tensão depende majoritariamente de notificações enviadas de forma manual ou isolada por cidadãos afetados. Isto cria um vácuo temporal entre a ocorrência da falha física e a efetiva mobilização das equipas técnicas de reparação rápida, prolongando os tempos de interrupção do serviço.</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4. Problematização e Questão de Investigação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4.2. Impactos Socioeconómicos Gerados</a:t>
            </a:r>
            <a:endParaRPr lang="en-US" sz="3200" dirty="0"/>
          </a:p>
        </p:txBody>
      </p:sp>
      <p:sp>
        <p:nvSpPr>
          <p:cNvPr id="4" name="Text 2"/>
          <p:cNvSpPr txBox="1"/>
          <p:nvPr/>
        </p:nvSpPr>
        <p:spPr>
          <a:xfrm>
            <a:off x="457200" y="1828800"/>
            <a:ext cx="11274552" cy="1600200"/>
          </a:xfrm>
          <a:prstGeom prst="rect">
            <a:avLst/>
          </a:prstGeom>
          <a:noFill/>
          <a:ln/>
        </p:spPr>
        <p:txBody>
          <a:bodyPr wrap="square" lIns="0" tIns="0" rIns="0" bIns="0" rtlCol="0" anchor="t"/>
          <a:lstStyle/>
          <a:p>
            <a:pPr indent="0" marL="0">
              <a:lnSpc>
                <a:spcPts val="2600"/>
              </a:lnSpc>
              <a:buNone/>
            </a:pPr>
            <a:r>
              <a:rPr lang="en-US" sz="2000" dirty="0">
                <a:solidFill>
                  <a:schemeClr val="tx1"/>
                </a:solidFill>
              </a:rPr>
              <a:t>Este atraso de comunicação traduz-se em perdas financeiras avultadas para pequenas e médias empresas que dependem de energia contínua (como câmaras de refrigeração, indústrias panificadoras e serviços de atendimento) e obriga as famílias a incorrer em custos extraordinários na compra de água de camiões-cisterna privados inflacionados. Diante deste cenário, formula-se a seguinte questão norteadora da pesquisa:</a:t>
            </a:r>
            <a:endParaRPr lang="en-US" sz="2000" dirty="0"/>
          </a:p>
        </p:txBody>
      </p:sp>
      <p:sp>
        <p:nvSpPr>
          <p:cNvPr id="5" name="destaque"/>
          <p:cNvSpPr/>
          <p:nvPr/>
        </p:nvSpPr>
        <p:spPr>
          <a:xfrm>
            <a:off x="457200" y="3611880"/>
            <a:ext cx="11274552" cy="2508504"/>
          </a:xfrm>
          <a:prstGeom prst="rect">
            <a:avLst/>
          </a:prstGeom>
          <a:solidFill>
            <a:schemeClr val="accent1"/>
          </a:solidFill>
          <a:ln/>
        </p:spPr>
        <p:txBody>
          <a:bodyPr wrap="square" lIns="381000" tIns="381000" rIns="381000" bIns="381000" rtlCol="0" anchor="ctr"/>
          <a:lstStyle/>
          <a:p>
            <a:pPr algn="l" indent="0" marL="0">
              <a:lnSpc>
                <a:spcPts val="3168"/>
              </a:lnSpc>
              <a:buNone/>
            </a:pPr>
            <a:r>
              <a:rPr lang="en-US" sz="2400" i="1" dirty="0">
                <a:solidFill>
                  <a:schemeClr val="bg1"/>
                </a:solidFill>
              </a:rPr>
              <a:t>De que forma o desenvolvimento de uma plataforma web de arquitetura aberta, focada no crowdsourcing geográfico por bairros, pode otimizar a visibilidade sobre as interrupções de água e energia, diminuindo o tempo de reação coletiva da comunidade face às falhas de infraestrutura urbana?</a:t>
            </a:r>
            <a:endParaRPr lang="en-US" sz="24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5. Objetivos da Investigação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5.1. Objetivo Geral</a:t>
            </a:r>
            <a:endParaRPr lang="en-US" sz="3200" dirty="0"/>
          </a:p>
        </p:txBody>
      </p:sp>
      <p:sp>
        <p:nvSpPr>
          <p:cNvPr id="4" name="destaque"/>
          <p:cNvSpPr/>
          <p:nvPr/>
        </p:nvSpPr>
        <p:spPr>
          <a:xfrm>
            <a:off x="457200" y="2011680"/>
            <a:ext cx="11274552" cy="3413760"/>
          </a:xfrm>
          <a:prstGeom prst="rect">
            <a:avLst/>
          </a:prstGeom>
          <a:solidFill>
            <a:schemeClr val="accent1"/>
          </a:solidFill>
          <a:ln/>
        </p:spPr>
        <p:txBody>
          <a:bodyPr wrap="square" lIns="381000" tIns="381000" rIns="381000" bIns="381000" rtlCol="0" anchor="ctr"/>
          <a:lstStyle/>
          <a:p>
            <a:pPr algn="l" indent="0" marL="0">
              <a:lnSpc>
                <a:spcPts val="3960"/>
              </a:lnSpc>
              <a:buNone/>
            </a:pPr>
            <a:r>
              <a:rPr lang="en-US" sz="3000" i="1" dirty="0">
                <a:solidFill>
                  <a:schemeClr val="bg1"/>
                </a:solidFill>
              </a:rPr>
              <a:t>Projetar, documentar e desenvolver um protótipo funcional de um sistema web colaborativo que centralize, processe e dissemine alertas de interrupção no fornecimento de água potável e energia elétrica, segmentados geograficamente por bairros, utilizando tecnologias de código aberto amplamente acessíveis.</a:t>
            </a:r>
            <a:endParaRPr lang="en-US" sz="30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5. Objetivos da Investigação</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5.2. Objetivos Específicos do Protótipo</a:t>
            </a:r>
            <a:endParaRPr lang="en-US" sz="3200" dirty="0"/>
          </a:p>
        </p:txBody>
      </p:sp>
      <p:sp>
        <p:nvSpPr>
          <p:cNvPr id="4" name="Text 2"/>
          <p:cNvSpPr txBox="1"/>
          <p:nvPr/>
        </p:nvSpPr>
        <p:spPr>
          <a:xfrm>
            <a:off x="457200" y="1783080"/>
            <a:ext cx="11274552" cy="548640"/>
          </a:xfrm>
          <a:prstGeom prst="rect">
            <a:avLst/>
          </a:prstGeom>
          <a:noFill/>
          <a:ln/>
        </p:spPr>
        <p:txBody>
          <a:bodyPr wrap="square" lIns="0" tIns="0" rIns="0" bIns="0" rtlCol="0" anchor="t"/>
          <a:lstStyle/>
          <a:p>
            <a:pPr indent="0" marL="0">
              <a:buNone/>
            </a:pPr>
            <a:r>
              <a:rPr lang="en-US" sz="1800" dirty="0">
                <a:solidFill>
                  <a:schemeClr val="tx1"/>
                </a:solidFill>
              </a:rPr>
              <a:t>Para assegurar a exequibilidade do objetivo geral, definem-se os seguintes passos técnicos e metodológicos estruturados:</a:t>
            </a:r>
            <a:endParaRPr lang="en-US" sz="1800" dirty="0"/>
          </a:p>
        </p:txBody>
      </p:sp>
      <p:sp>
        <p:nvSpPr>
          <p:cNvPr id="5" name="Nº 1"/>
          <p:cNvSpPr/>
          <p:nvPr/>
        </p:nvSpPr>
        <p:spPr>
          <a:xfrm>
            <a:off x="457200" y="2505456"/>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Objetivo 1"/>
          <p:cNvSpPr txBox="1"/>
          <p:nvPr/>
        </p:nvSpPr>
        <p:spPr>
          <a:xfrm>
            <a:off x="1188720" y="2468880"/>
            <a:ext cx="10543032" cy="658368"/>
          </a:xfrm>
          <a:prstGeom prst="rect">
            <a:avLst/>
          </a:prstGeom>
          <a:noFill/>
          <a:ln/>
        </p:spPr>
        <p:txBody>
          <a:bodyPr wrap="square" lIns="0" tIns="0" rIns="0" bIns="0" rtlCol="0" anchor="ctr"/>
          <a:lstStyle/>
          <a:p>
            <a:pPr algn="l" indent="0" marL="0">
              <a:buNone/>
            </a:pPr>
            <a:r>
              <a:rPr lang="en-US" sz="1700" b="1" dirty="0">
                <a:solidFill>
                  <a:schemeClr val="accent1"/>
                </a:solidFill>
              </a:rPr>
              <a:t>Mapeamento Lógico da Estrutura Urbana:</a:t>
            </a:r>
            <a:pPr algn="l" indent="0" marL="0">
              <a:buNone/>
            </a:pPr>
            <a:r>
              <a:rPr lang="en-US" sz="1700" dirty="0">
                <a:solidFill>
                  <a:schemeClr val="tx1"/>
                </a:solidFill>
              </a:rPr>
              <a:t> Modelar a divisão territorial do estudo de caso num esquema relacional normalizado que sirva de âncora inequívoca para todos os alertas submetidos.</a:t>
            </a:r>
            <a:endParaRPr lang="en-US" sz="1700" dirty="0"/>
          </a:p>
        </p:txBody>
      </p:sp>
      <p:sp>
        <p:nvSpPr>
          <p:cNvPr id="7" name="Nº 2"/>
          <p:cNvSpPr/>
          <p:nvPr/>
        </p:nvSpPr>
        <p:spPr>
          <a:xfrm>
            <a:off x="457200" y="3264408"/>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Objetivo 2"/>
          <p:cNvSpPr txBox="1"/>
          <p:nvPr/>
        </p:nvSpPr>
        <p:spPr>
          <a:xfrm>
            <a:off x="1188720" y="3227832"/>
            <a:ext cx="10543032" cy="658368"/>
          </a:xfrm>
          <a:prstGeom prst="rect">
            <a:avLst/>
          </a:prstGeom>
          <a:noFill/>
          <a:ln/>
        </p:spPr>
        <p:txBody>
          <a:bodyPr wrap="square" lIns="0" tIns="0" rIns="0" bIns="0" rtlCol="0" anchor="ctr"/>
          <a:lstStyle/>
          <a:p>
            <a:pPr algn="l" indent="0" marL="0">
              <a:buNone/>
            </a:pPr>
            <a:r>
              <a:rPr lang="en-US" sz="1700" b="1" dirty="0">
                <a:solidFill>
                  <a:schemeClr val="accent1"/>
                </a:solidFill>
              </a:rPr>
              <a:t>Desenvolvimento de Interface Responsiva:</a:t>
            </a:r>
            <a:pPr algn="l" indent="0" marL="0">
              <a:buNone/>
            </a:pPr>
            <a:r>
              <a:rPr lang="en-US" sz="1700" dirty="0">
                <a:solidFill>
                  <a:schemeClr val="tx1"/>
                </a:solidFill>
              </a:rPr>
              <a:t> Construir interfaces de utilizador baseadas no princípio Mobile-First, assegurando usabilidade e leveza em dispositivos móveis com restrições de processamento.</a:t>
            </a:r>
            <a:endParaRPr lang="en-US" sz="1700" dirty="0"/>
          </a:p>
        </p:txBody>
      </p:sp>
      <p:sp>
        <p:nvSpPr>
          <p:cNvPr id="9" name="Nº 3"/>
          <p:cNvSpPr/>
          <p:nvPr/>
        </p:nvSpPr>
        <p:spPr>
          <a:xfrm>
            <a:off x="457200" y="402336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0" name="Objetivo 3"/>
          <p:cNvSpPr txBox="1"/>
          <p:nvPr/>
        </p:nvSpPr>
        <p:spPr>
          <a:xfrm>
            <a:off x="1188720" y="3986784"/>
            <a:ext cx="10543032" cy="658368"/>
          </a:xfrm>
          <a:prstGeom prst="rect">
            <a:avLst/>
          </a:prstGeom>
          <a:noFill/>
          <a:ln/>
        </p:spPr>
        <p:txBody>
          <a:bodyPr wrap="square" lIns="0" tIns="0" rIns="0" bIns="0" rtlCol="0" anchor="ctr"/>
          <a:lstStyle/>
          <a:p>
            <a:pPr algn="l" indent="0" marL="0">
              <a:buNone/>
            </a:pPr>
            <a:r>
              <a:rPr lang="en-US" sz="1700" b="1" dirty="0">
                <a:solidFill>
                  <a:schemeClr val="accent1"/>
                </a:solidFill>
              </a:rPr>
              <a:t>Implementação do Motor de Agregação:</a:t>
            </a:r>
            <a:pPr algn="l" indent="0" marL="0">
              <a:buNone/>
            </a:pPr>
            <a:r>
              <a:rPr lang="en-US" sz="1700" dirty="0">
                <a:solidFill>
                  <a:schemeClr val="tx1"/>
                </a:solidFill>
              </a:rPr>
              <a:t> Desenvolver algoritmos no lado do servidor capazes de filtrar o ruído de dados e consolidar múltiplos alertas individuais numa única mudança de estado do bairro.</a:t>
            </a:r>
            <a:endParaRPr lang="en-US" sz="1700" dirty="0"/>
          </a:p>
        </p:txBody>
      </p:sp>
      <p:sp>
        <p:nvSpPr>
          <p:cNvPr id="11" name="Nº 4"/>
          <p:cNvSpPr/>
          <p:nvPr/>
        </p:nvSpPr>
        <p:spPr>
          <a:xfrm>
            <a:off x="457200" y="478231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2" name="Objetivo 4"/>
          <p:cNvSpPr txBox="1"/>
          <p:nvPr/>
        </p:nvSpPr>
        <p:spPr>
          <a:xfrm>
            <a:off x="1188720" y="4745736"/>
            <a:ext cx="10543032" cy="658368"/>
          </a:xfrm>
          <a:prstGeom prst="rect">
            <a:avLst/>
          </a:prstGeom>
          <a:noFill/>
          <a:ln/>
        </p:spPr>
        <p:txBody>
          <a:bodyPr wrap="square" lIns="0" tIns="0" rIns="0" bIns="0" rtlCol="0" anchor="ctr"/>
          <a:lstStyle/>
          <a:p>
            <a:pPr algn="l" indent="0" marL="0">
              <a:buNone/>
            </a:pPr>
            <a:r>
              <a:rPr lang="en-US" sz="1700" b="1" dirty="0">
                <a:solidFill>
                  <a:schemeClr val="accent1"/>
                </a:solidFill>
              </a:rPr>
              <a:t>Blindagem de Acesso e Persistência:</a:t>
            </a:r>
            <a:pPr algn="l" indent="0" marL="0">
              <a:buNone/>
            </a:pPr>
            <a:r>
              <a:rPr lang="en-US" sz="1700" dirty="0">
                <a:solidFill>
                  <a:schemeClr val="tx1"/>
                </a:solidFill>
              </a:rPr>
              <a:t> Garantir um repositório de dados seguro, implementando rotinas rigorosas de higienização de inputs e parametrização de consultas SQL para impedir intrusões.</a:t>
            </a:r>
            <a:endParaRPr lang="en-US" sz="1700" dirty="0"/>
          </a:p>
        </p:txBody>
      </p:sp>
      <p:sp>
        <p:nvSpPr>
          <p:cNvPr id="13" name="Nº 5"/>
          <p:cNvSpPr/>
          <p:nvPr/>
        </p:nvSpPr>
        <p:spPr>
          <a:xfrm>
            <a:off x="457200" y="5541264"/>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4" name="Objetivo 5"/>
          <p:cNvSpPr txBox="1"/>
          <p:nvPr/>
        </p:nvSpPr>
        <p:spPr>
          <a:xfrm>
            <a:off x="1188720" y="5504688"/>
            <a:ext cx="10543032" cy="658368"/>
          </a:xfrm>
          <a:prstGeom prst="rect">
            <a:avLst/>
          </a:prstGeom>
          <a:noFill/>
          <a:ln/>
        </p:spPr>
        <p:txBody>
          <a:bodyPr wrap="square" lIns="0" tIns="0" rIns="0" bIns="0" rtlCol="0" anchor="ctr"/>
          <a:lstStyle/>
          <a:p>
            <a:pPr algn="l" indent="0" marL="0">
              <a:buNone/>
            </a:pPr>
            <a:r>
              <a:rPr lang="en-US" sz="1700" b="1" dirty="0">
                <a:solidFill>
                  <a:schemeClr val="accent1"/>
                </a:solidFill>
              </a:rPr>
              <a:t>Análise Comparativa do Ecossistema:</a:t>
            </a:r>
            <a:pPr algn="l" indent="0" marL="0">
              <a:buNone/>
            </a:pPr>
            <a:r>
              <a:rPr lang="en-US" sz="1700" dirty="0">
                <a:solidFill>
                  <a:schemeClr val="tx1"/>
                </a:solidFill>
              </a:rPr>
              <a:t> Avaliar criticamente o desempenho da solução arquitetada frente a ecossistemas tecnológicos concorrentes do mercado de desenvolvimento atual.</a:t>
            </a:r>
            <a:endParaRPr lang="en-US" sz="17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6. Estudo de Comparação e Estado da Arte</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6.1. Análise de Soluções Existentes no Mercado</a:t>
            </a:r>
            <a:endParaRPr lang="en-US" sz="3200" dirty="0"/>
          </a:p>
        </p:txBody>
      </p:sp>
      <p:sp>
        <p:nvSpPr>
          <p:cNvPr id="4" name="painel"/>
          <p:cNvSpPr/>
          <p:nvPr/>
        </p:nvSpPr>
        <p:spPr>
          <a:xfrm>
            <a:off x="457200" y="1828800"/>
            <a:ext cx="11274552" cy="3010408"/>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análise do estado da arte revela que as iniciativas de monitorização urbana se dividem entre sistemas governamentais verticais e plataformas abertas de crowdsourcing (como o Ushahidi, utilizado em cenários de crise humanitária). No entanto, as aplicações das concessionárias locais focam-se na emissão e pagamento de faturas, relegando o reporte de avarias para módulos secundários de difícil navegação. As redes sociais, embora ágeis, falham na compilação estatística indispensável para o planeamento urbano de médio prazo.</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6. Estudo de Comparação e Estado da Arte</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6.2. Matriz Comparativa de Desempenho e Eficácia</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74552" cy="914400"/>
        </p:xfrm>
        <a:graphic>
          <a:graphicData uri="http://schemas.openxmlformats.org/drawingml/2006/table">
            <a:tbl>
              <a:tblPr/>
              <a:tblGrid>
                <a:gridCol w="2606040"/>
                <a:gridCol w="2880360"/>
                <a:gridCol w="2880360"/>
                <a:gridCol w="2907792"/>
              </a:tblGrid>
              <a:tr h="548640">
                <a:tc>
                  <a:txBody>
                    <a:bodyP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Critério Operacional</a:t>
                      </a:r>
                      <a:endParaRPr lang="en-US" sz="18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2F5496"/>
                    </a:solidFill>
                  </a:tcPr>
                </a:tc>
                <a:tc>
                  <a:txBody>
                    <a:bodyP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Canais Telefónicos</a:t>
                      </a:r>
                      <a:endParaRPr lang="en-US" sz="18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2F5496"/>
                    </a:solidFill>
                  </a:tcPr>
                </a:tc>
                <a:tc>
                  <a:txBody>
                    <a:bodyP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Redes Sociais</a:t>
                      </a:r>
                      <a:endParaRPr lang="en-US" sz="18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2F5496"/>
                    </a:solidFill>
                  </a:tcPr>
                </a:tc>
                <a:tc>
                  <a:txBody>
                    <a:bodyP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Protótipo Proposto</a:t>
                      </a:r>
                      <a:endParaRPr lang="en-US" sz="18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1F3864"/>
                    </a:solidFill>
                  </a:tcPr>
                </a:tc>
              </a:tr>
              <a:tr h="777240">
                <a:tc>
                  <a:txBody>
                    <a:bodyPr/>
                    <a:lstStyle/>
                    <a:p>
                      <a:pPr indent="0" marL="0">
                        <a:buNone/>
                      </a:pPr>
                      <a:r>
                        <a:rPr lang="en-US" sz="1700" b="1" dirty="0">
                          <a:solidFill>
                            <a:srgbClr val="2F5496"/>
                          </a:solidFill>
                          <a:latin typeface="Times New Roman" pitchFamily="34" charset="0"/>
                          <a:ea typeface="Times New Roman" pitchFamily="34" charset="-122"/>
                          <a:cs typeface="Times New Roman" pitchFamily="34" charset="-120"/>
                        </a:rPr>
                        <a:t>Estruturação do Dado</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Nula (Registos em texto livre isolados)</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Baixa (Mensagens dispersas em feeds)</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b="1" dirty="0">
                          <a:solidFill>
                            <a:srgbClr val="1F3864"/>
                          </a:solidFill>
                          <a:latin typeface="Times New Roman" pitchFamily="34" charset="0"/>
                          <a:ea typeface="Times New Roman" pitchFamily="34" charset="-122"/>
                          <a:cs typeface="Times New Roman" pitchFamily="34" charset="-120"/>
                        </a:rPr>
                        <a:t>Alta (Tabelas normalizadas SQL)</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r>
              <a:tr h="777240">
                <a:tc>
                  <a:txBody>
                    <a:bodyPr/>
                    <a:lstStyle/>
                    <a:p>
                      <a:pPr indent="0" marL="0">
                        <a:buNone/>
                      </a:pPr>
                      <a:r>
                        <a:rPr lang="en-US" sz="1700" b="1" dirty="0">
                          <a:solidFill>
                            <a:srgbClr val="2F5496"/>
                          </a:solidFill>
                          <a:latin typeface="Times New Roman" pitchFamily="34" charset="0"/>
                          <a:ea typeface="Times New Roman" pitchFamily="34" charset="-122"/>
                          <a:cs typeface="Times New Roman" pitchFamily="34" charset="-120"/>
                        </a:rPr>
                        <a:t>Velocidade de Consulta</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Lenta (Sujeita a filas de atendimento)</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Média (Exige scroll e busca manual)</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b="1" dirty="0">
                          <a:solidFill>
                            <a:srgbClr val="1F3864"/>
                          </a:solidFill>
                          <a:latin typeface="Times New Roman" pitchFamily="34" charset="0"/>
                          <a:ea typeface="Times New Roman" pitchFamily="34" charset="-122"/>
                          <a:cs typeface="Times New Roman" pitchFamily="34" charset="-120"/>
                        </a:rPr>
                        <a:t>Instantânea (Dashboard central)</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r>
              <a:tr h="777240">
                <a:tc>
                  <a:txBody>
                    <a:bodyPr/>
                    <a:lstStyle/>
                    <a:p>
                      <a:pPr indent="0" marL="0">
                        <a:buNone/>
                      </a:pPr>
                      <a:r>
                        <a:rPr lang="en-US" sz="1700" b="1" dirty="0">
                          <a:solidFill>
                            <a:srgbClr val="2F5496"/>
                          </a:solidFill>
                          <a:latin typeface="Times New Roman" pitchFamily="34" charset="0"/>
                          <a:ea typeface="Times New Roman" pitchFamily="34" charset="-122"/>
                          <a:cs typeface="Times New Roman" pitchFamily="34" charset="-120"/>
                        </a:rPr>
                        <a:t>Automatização de Alertas</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Inexistente</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Dependente de algoritmos proprietários</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b="1" dirty="0">
                          <a:solidFill>
                            <a:srgbClr val="1F3864"/>
                          </a:solidFill>
                          <a:latin typeface="Times New Roman" pitchFamily="34" charset="0"/>
                          <a:ea typeface="Times New Roman" pitchFamily="34" charset="-122"/>
                          <a:cs typeface="Times New Roman" pitchFamily="34" charset="-120"/>
                        </a:rPr>
                        <a:t>Nativa (Disparos automáticos programados)</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r>
              <a:tr h="777240">
                <a:tc>
                  <a:txBody>
                    <a:bodyPr/>
                    <a:lstStyle/>
                    <a:p>
                      <a:pPr indent="0" marL="0">
                        <a:buNone/>
                      </a:pPr>
                      <a:r>
                        <a:rPr lang="en-US" sz="1700" b="1" dirty="0">
                          <a:solidFill>
                            <a:srgbClr val="2F5496"/>
                          </a:solidFill>
                          <a:latin typeface="Times New Roman" pitchFamily="34" charset="0"/>
                          <a:ea typeface="Times New Roman" pitchFamily="34" charset="-122"/>
                          <a:cs typeface="Times New Roman" pitchFamily="34" charset="-120"/>
                        </a:rPr>
                        <a:t>Custo de Manutenção</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Elevado (Call centers humanos)</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Zero (Mas perda de controlo dos dados)</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b="1" dirty="0">
                          <a:solidFill>
                            <a:srgbClr val="1F3864"/>
                          </a:solidFill>
                          <a:latin typeface="Times New Roman" pitchFamily="34" charset="0"/>
                          <a:ea typeface="Times New Roman" pitchFamily="34" charset="-122"/>
                          <a:cs typeface="Times New Roman" pitchFamily="34" charset="-120"/>
                        </a:rPr>
                        <a:t>Muito Reduzido (Alojamento web basilar)</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r>
              <a:tr h="777240">
                <a:tc>
                  <a:txBody>
                    <a:bodyPr/>
                    <a:lstStyle/>
                    <a:p>
                      <a:pPr indent="0" marL="0">
                        <a:buNone/>
                      </a:pPr>
                      <a:r>
                        <a:rPr lang="en-US" sz="1700" b="1" dirty="0">
                          <a:solidFill>
                            <a:srgbClr val="2F5496"/>
                          </a:solidFill>
                          <a:latin typeface="Times New Roman" pitchFamily="34" charset="0"/>
                          <a:ea typeface="Times New Roman" pitchFamily="34" charset="-122"/>
                          <a:cs typeface="Times New Roman" pitchFamily="34" charset="-120"/>
                        </a:rPr>
                        <a:t>Precisão Geográfica</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Subjetiva (Depende do relato oral)</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dirty="0">
                          <a:solidFill>
                            <a:srgbClr val="1F1F1F"/>
                          </a:solidFill>
                          <a:latin typeface="Times New Roman" pitchFamily="34" charset="0"/>
                          <a:ea typeface="Times New Roman" pitchFamily="34" charset="-122"/>
                          <a:cs typeface="Times New Roman" pitchFamily="34" charset="-120"/>
                        </a:rPr>
                        <a:t>Fraca (Frequentemente omitida)</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FFFFFF"/>
                    </a:solidFill>
                  </a:tcPr>
                </a:tc>
                <a:tc>
                  <a:txBody>
                    <a:bodyPr/>
                    <a:lstStyle/>
                    <a:p>
                      <a:pPr indent="0" marL="0">
                        <a:buNone/>
                      </a:pPr>
                      <a:r>
                        <a:rPr lang="en-US" sz="1700" b="1" dirty="0">
                          <a:solidFill>
                            <a:srgbClr val="1F3864"/>
                          </a:solidFill>
                          <a:latin typeface="Times New Roman" pitchFamily="34" charset="0"/>
                          <a:ea typeface="Times New Roman" pitchFamily="34" charset="-122"/>
                          <a:cs typeface="Times New Roman" pitchFamily="34" charset="-120"/>
                        </a:rPr>
                        <a:t>Rígida (Vinculada ao ID do bairro)</a:t>
                      </a:r>
                      <a:endParaRPr lang="en-US" sz="1700" dirty="0">
                        <a:latin typeface="Times New Roman" charset="0"/>
                        <a:ea typeface="Times New Roman" charset="0"/>
                        <a:cs typeface="Times New Roman" charset="0"/>
                      </a:endParaRPr>
                    </a:p>
                  </a:txBody>
                  <a:tcPr marL="128016" marR="128016" marT="45720" marB="45720" anchor="ctr">
                    <a:lnL w="12700" cap="flat" cmpd="sng" algn="ctr">
                      <a:solidFill>
                        <a:srgbClr val="8FAADC"/>
                      </a:solidFill>
                      <a:prstDash val="solid"/>
                      <a:round/>
                      <a:headEnd type="none" w="med" len="med"/>
                      <a:tailEnd type="none" w="med" len="med"/>
                    </a:lnL>
                    <a:lnR w="12700" cap="flat" cmpd="sng" algn="ctr">
                      <a:solidFill>
                        <a:srgbClr val="8FAADC"/>
                      </a:solidFill>
                      <a:prstDash val="solid"/>
                      <a:round/>
                      <a:headEnd type="none" w="med" len="med"/>
                      <a:tailEnd type="none" w="med" len="med"/>
                    </a:lnR>
                    <a:lnT w="12700" cap="flat" cmpd="sng" algn="ctr">
                      <a:solidFill>
                        <a:srgbClr val="8FAADC"/>
                      </a:solidFill>
                      <a:prstDash val="solid"/>
                      <a:round/>
                      <a:headEnd type="none" w="med" len="med"/>
                      <a:tailEnd type="none" w="med" len="med"/>
                    </a:lnT>
                    <a:lnB w="12700" cap="flat" cmpd="sng" algn="ctr">
                      <a:solidFill>
                        <a:srgbClr val="8FAADC"/>
                      </a:solidFill>
                      <a:prstDash val="solid"/>
                      <a:round/>
                      <a:headEnd type="none" w="med" len="med"/>
                      <a:tailEnd type="none" w="med" len="med"/>
                    </a:lnB>
                    <a:solidFill>
                      <a:srgbClr val="EAF0F8"/>
                    </a:solidFill>
                  </a:tcPr>
                </a:tc>
              </a:tr>
            </a:tbl>
          </a:graphicData>
        </a:graphic>
      </p:graphicFrame>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7. Pilha Tecnológica Selecionada (Front-end)</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7.1. Estruturação Semântica Dinâmica com HTML5</a:t>
            </a:r>
            <a:endParaRPr lang="en-US" sz="3200" dirty="0"/>
          </a:p>
        </p:txBody>
      </p:sp>
      <p:sp>
        <p:nvSpPr>
          <p:cNvPr id="4" name="painel"/>
          <p:cNvSpPr/>
          <p:nvPr/>
        </p:nvSpPr>
        <p:spPr>
          <a:xfrm>
            <a:off x="457200" y="1828800"/>
            <a:ext cx="11274552" cy="3379216"/>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camada de apresentação do protótipo assenta na especificação semântica do HTML5. Em vez de uma marcação genérica baseada puramente em blocos divisórios amorfos (divs), o sistema faz uso intencional de tags estruturais como section, article, header, e nav. Esta abordagem não só melhora drasticamente a acessibilidade para leitores de ecrã, mas otimiza a indexação e garante que o motor de renderização dos navegadores móveis processe a árvore do DOM (Document Object Model) de forma ágil, minimizando o consumo de memória RAM nos telemóveis dos utilizadores.</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7. Pilha Tecnológica Selecionada (Front-end)</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7.2. Estilização Responsiva Avançada com CSS3</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Para assegurar a total adaptabilidade da interface visual sem incorrer na sobrecarga de frameworks externos pesados (como Bootstrap), recorreu-se nativamente às especificações de CSS Grid Layout e Flexbox, combinadas com Media Queries cirúrgicas. O design adota a filosofia Mobile-First: o layout é inicialmente otimizado para ecrãs estreitos de smartphones e expande-se de forma fluida para resoluções de desktop. Elementos de feedback visual, como transições de cores suaves para estados de alerta (verde para estável, amarelo para aviso, vermelho para crítico), são geridos via CSS para libertar a linha de processamento do JavaScript.</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7. Pilha Tecnológica Selecionada (Front-end)</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7.3. Manipulação Assíncrona do DOM via JavaScript</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O dinamismo e a interatividade no lado do cliente são orquestrados por JavaScript puro (Vanilla JS). O sistema captura os eventos de submissão de formulários de forma assíncrona através da Fetch API. Isto elimina a necessidade histórica de recarregar completamente a página web a cada alerta enviado. O JavaScript interseta os dados, valida o preenchimento correto dos campos no front-end para poupar chamadas desnecessárias ao servidor, dispara o pedido HTTP em segundo plano e atualiza em tempo real apenas o bloco de texto correspondente ao status do bairro afetado, simulando uma experiência de aplicação nativa de alta velocidade.</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8. Pilha Tecnológica Selecionada (Back-end e Dados)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8.1. Lógica de Servidor Robustecida com PHP</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O processamento centralizado na camada de negócio é executado pela linguagem PHP (Hypertext Preprocessor) na sua versão estável mais recente. O PHP atua como o maestro do ecossistema: recebe as requisições assíncronas enviadas pelo front-end, valida a autenticidade das sessões ativas através de tokens seguros, e implementa as regras de negócio para consolidação de dados. Para mitigar riscos críticos de segurança mapeados pela OWASP, o back-end em PHP aplica funções de sanitização de strings (como filter_var) em todos os inputs recebidos antes de qualquer processamento lógico, neutralizando vetores de ataque de Cross-Site Scripting (XSS).</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8. Pilha Tecnológica Selecionada (Back-end e Dados)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8.2. Persistência e Engenharia de Dados em MySQL</a:t>
            </a:r>
            <a:endParaRPr lang="en-US" sz="3200" dirty="0"/>
          </a:p>
        </p:txBody>
      </p:sp>
      <p:sp>
        <p:nvSpPr>
          <p:cNvPr id="4" name="painel"/>
          <p:cNvSpPr/>
          <p:nvPr/>
        </p:nvSpPr>
        <p:spPr>
          <a:xfrm>
            <a:off x="457200" y="1828800"/>
            <a:ext cx="11274552" cy="4116832"/>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camada de persistência assenta no Sistema de Gestão de Bases de Dados Relacionais MySQL. O desenho da base de dados foi meticulosamente estruturado para respeitar a Terceira Forma Normal (3FN), mitigando redundâncias e inconsistências operacionais. O relacionamento entre as entidades é garantido por chaves estrangeiras rígidas com restrições de integridade referencial. A comunicação entre o motor PHP e a base de dados MySQL é realizada exclusivamente por meio da extensão PDO (PHP Data Objects). A utilização de Prepared Statements (consultas parametrizadas) é obrigatória em todo o código-fonte, garantindo que as variáveis enviadas pelos utilizadores sejam tratadas estritamente como literais, anulando a possibilidade de ataques devastadores por SQL Injection.</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9. Arquitetura Estrutural e Fluxos de Dados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9.1. Modelo Cliente-Servidor em Três Camadas</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O protótipo adota estritamente a arquitetura clássica em três camadas independentes (Apresentação, Negócio e Dados), o que confere ao sistema elevada manutenibilidade e isolamento de falhas (Sommerville, 2011). A camada de Apresentação (HTML5/CSS3/JS) isola o utilizador da complexidade dos servidores. Esta comunica exclusivamente por HTTP com a camada de Negócio (PHP), que por sua vez é a única entidade autorizada a estabelecer ligações de leitura e escrita com a camada de Dados (MySQL). Caso seja necessária a migração do motor de base de dados no futuro, a interface e as regras de negócio permanecem inalteradas, bastando reconfigurar o driver de conexão no PDO.</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9. Arquitetura Estrutural e Fluxos de Dados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9.2. Mecanismos de Validação e Segurança Coletiva</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Um dos maiores desafios técnicos em sistemas assentes em crowdsourcing é garantir a fiabilidade dos dados introduzidos para evitar falsos alarmes. O algoritmo concebido mitiga esta vulnerabilidade através de um sistema de ponderação temporal e volumétrica. Quando um cidadão submete uma reclamação de falta de água para o Bairro X, o sistema insere o registo e mantém o estado do bairro sob observação. O estatuto público do bairro só transita para ‘Alerta Crítico’ quando o número de utilizadores únicos e distintos a reportar a mesma falha cruzar o limiar de segurança dentro de uma janela móvel de 120 minutos. Isto isola falhas internas residenciais de colapsos reais na rede de distribuição urbana.</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10. Comparação Crítica das Ferramentas Computacionais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10.1. MySQL versus Abordagens Não Relacionais (NoSQL)</a:t>
            </a:r>
            <a:endParaRPr lang="en-US" sz="3200" dirty="0"/>
          </a:p>
        </p:txBody>
      </p:sp>
      <p:sp>
        <p:nvSpPr>
          <p:cNvPr id="4" name="painel"/>
          <p:cNvSpPr/>
          <p:nvPr/>
        </p:nvSpPr>
        <p:spPr>
          <a:xfrm>
            <a:off x="457200" y="1828800"/>
            <a:ext cx="11274552" cy="4116832"/>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escolha de um banco de dados relacional como o MySQL em detrimento de soluções NoSQL orientadas a documentos (como o MongoDB) baseia-se na natureza geométrica e estrutural dos dados urbanos. As divisões administrativas de uma cidade (Província, Município, Distrito, Bairro) são entidades altamente estruturadas e de mutabilidade quase nula a curto prazo. O modelo relacional assegura consistência transacional absoluta através do estrito cumprimento das propriedades ACID (Atomicidade, Consistência, Isolamento e Durabilidade). O uso de Joins indexados no SQL permite agregar o total de alertas por bairro com uma pegada de processamento imensamente inferior àquela que seria gerada por agregações dinâmicas de coleções JSON desestruturadas em NoSQL.</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10. Comparação Crítica das Ferramentas Computacionais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10.2. PHP Nativo versus Frameworks Pesados</a:t>
            </a:r>
            <a:endParaRPr lang="en-US" sz="3200" dirty="0"/>
          </a:p>
        </p:txBody>
      </p:sp>
      <p:sp>
        <p:nvSpPr>
          <p:cNvPr id="4" name="painel"/>
          <p:cNvSpPr/>
          <p:nvPr/>
        </p:nvSpPr>
        <p:spPr>
          <a:xfrm>
            <a:off x="457200" y="1828800"/>
            <a:ext cx="11274552" cy="4116832"/>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No ecossistema de desenvolvimento contemporâneo, debate-se frequentemente a adoção de Single Page Applications (SPAs) baseadas em Node.js no back-end e React ou Angular no front-end. Embora estas ferramentas ofereçam vantagens em sistemas empresariais massivos, a sua adoção neste protótipo representaria uma sobre-engenharia contraproducente. O PHP nativo combinado com JavaScript puro elimina camadas complexas de compilação, pacotes de dependências terceiras (node_modules) que elevam o tamanho final dos ficheiros e exigências dispendiosas de hardware no servidor de alojamento. A simplicidade da pilha escolhida traduz-se num menor consumo de dados para o utilizador final, cumprindo cabalmente o requisito não funcional RNF-002.</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11. Conclusões e Considerações Finais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11.1. Contribuições Principais do Protótipo</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A conceção teórica e a estruturação lógica deste protótipo de Sistema Web de Alerta demonstraram com clareza o potencial transformador das tecnologias digitais quando aplicadas à resolução de problemas urbanos crónicos. O trabalho evidenciou que a convergência de tecnologias clássicas, robustas e de baixo custo operacional é inteiramente capaz de suprir as falhas comunicacionais existentes entre as infraestruturas de distribuição pública e a população civil. O modelo colaborativo por bairro descentraliza a recolha de informação, outorgando aos munícipes um papel ativo na fiscalização e na gestão do espaço urbano, promovendo os alicerces de uma Cidade Inteligente (Smart City) inclusiva.</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11. Conclusões e Considerações Finais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11.2. Limitações Identificadas e Trabalhos Futuros</a:t>
            </a:r>
            <a:endParaRPr lang="en-US" sz="3200" dirty="0"/>
          </a:p>
        </p:txBody>
      </p:sp>
      <p:sp>
        <p:nvSpPr>
          <p:cNvPr id="4" name="painel"/>
          <p:cNvSpPr/>
          <p:nvPr/>
        </p:nvSpPr>
        <p:spPr>
          <a:xfrm>
            <a:off x="457200" y="1828800"/>
            <a:ext cx="11274552" cy="3748024"/>
          </a:xfrm>
          <a:prstGeom prst="rect">
            <a:avLst/>
          </a:prstGeom>
          <a:solidFill>
            <a:schemeClr val="bg2"/>
          </a:solidFill>
          <a:ln/>
        </p:spPr>
        <p:txBody>
          <a:bodyPr wrap="square" lIns="330200" tIns="330200" rIns="330200" bIns="330200" rtlCol="0" anchor="ctr"/>
          <a:lstStyle/>
          <a:p>
            <a:pPr algn="l" indent="0" marL="0">
              <a:lnSpc>
                <a:spcPts val="2904"/>
              </a:lnSpc>
              <a:buNone/>
            </a:pPr>
            <a:r>
              <a:rPr lang="en-US" sz="2200" dirty="0">
                <a:solidFill>
                  <a:schemeClr val="tx1"/>
                </a:solidFill>
              </a:rPr>
              <a:t>Como limitação evidente do modelo atual, aponta-se a total dependência da integridade comportamental da comunidade, uma vez que utilizadores mal-intencionados coordenados poderiam, teoricamente, inflacionar alertas falsos para simular falhas inexistentes. Para investigações e desenvolvimentos futuros, recomenda-se a integração obrigatória do sistema com uma API de geolocalização por satélite (como o OpenStreetMap ou LeafletJS) acoplada a mecanismos de Geofencing. Isto forçará o navegador do dispositivo móvel a comprovar que o utilizador se encontra fisicamente dentro do perímetro geográfico delimitado do bairro no exato momento da submissão do alerta, eliminando fraudes informativas.</a:t>
            </a:r>
            <a:endParaRPr lang="en-US" sz="22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body" hasCustomPrompt="1"/>
          </p:nvPr>
        </p:nvSpPr>
        <p:spPr>
          <a:xfrm>
            <a:off x="457200" y="365760"/>
            <a:ext cx="9144000" cy="365760"/>
          </a:xfrm>
          <a:prstGeom prst="rect">
            <a:avLst/>
          </a:prstGeom>
          <a:noFill/>
          <a:ln/>
        </p:spPr>
        <p:txBody>
          <a:bodyPr wrap="square" lIns="0" tIns="0" rIns="0" bIns="0" rtlCol="0" anchor="ctr"/>
          <a:lstStyle/>
          <a:p>
            <a:pPr indent="0" marL="0">
              <a:buNone/>
            </a:pPr>
            <a:r>
              <a:rPr lang="en-US" sz="1400" i="1" dirty="0">
                <a:solidFill>
                  <a:srgbClr val="595959"/>
                </a:solidFill>
              </a:rPr>
              <a:t>12. Referências Bibliográficas</a:t>
            </a:r>
            <a:endParaRPr lang="en-US" sz="1400" dirty="0"/>
          </a:p>
        </p:txBody>
      </p:sp>
      <p:sp>
        <p:nvSpPr>
          <p:cNvPr id="3" name="Text 0"/>
          <p:cNvSpPr/>
          <p:nvPr>
            <p:ph idx="102" type="title" hasCustomPrompt="1"/>
          </p:nvPr>
        </p:nvSpPr>
        <p:spPr>
          <a:xfrm>
            <a:off x="457200" y="868680"/>
            <a:ext cx="11274552" cy="731520"/>
          </a:xfrm>
          <a:prstGeom prst="rect">
            <a:avLst/>
          </a:prstGeom>
          <a:noFill/>
          <a:ln/>
        </p:spPr>
        <p:txBody>
          <a:bodyPr wrap="square" lIns="0" tIns="0" rIns="0" bIns="0" rtlCol="0" anchor="ctr"/>
          <a:lstStyle/>
          <a:p>
            <a:pPr algn="l" indent="0" marL="0">
              <a:buNone/>
            </a:pPr>
            <a:r>
              <a:rPr lang="en-US" sz="3200" b="1" dirty="0">
                <a:solidFill>
                  <a:srgbClr val="2F5496"/>
                </a:solidFill>
              </a:rPr>
              <a:t>12. Referências Bibliográficas</a:t>
            </a:r>
            <a:endParaRPr lang="en-US" sz="3200" dirty="0"/>
          </a:p>
        </p:txBody>
      </p:sp>
      <p:sp>
        <p:nvSpPr>
          <p:cNvPr id="4" name="Referências"/>
          <p:cNvSpPr txBox="1"/>
          <p:nvPr/>
        </p:nvSpPr>
        <p:spPr>
          <a:xfrm>
            <a:off x="457200" y="1828800"/>
            <a:ext cx="11274552" cy="4389120"/>
          </a:xfrm>
          <a:prstGeom prst="rect">
            <a:avLst/>
          </a:prstGeom>
          <a:noFill/>
          <a:ln/>
        </p:spPr>
        <p:txBody>
          <a:bodyPr wrap="square" lIns="0" tIns="0" rIns="0" bIns="0" rtlCol="0" anchor="t"/>
          <a:lstStyle/>
          <a:p>
            <a:pPr algn="l" indent="0" marL="0">
              <a:spcAft>
                <a:spcPts val="1200"/>
              </a:spcAft>
              <a:buNone/>
            </a:pPr>
            <a:r>
              <a:rPr lang="en-US" sz="1800" dirty="0">
                <a:solidFill>
                  <a:schemeClr val="tx1"/>
                </a:solidFill>
              </a:rPr>
              <a:t>CASTELLS, Manuel. </a:t>
            </a:r>
            <a:pPr algn="l" indent="0" marL="0">
              <a:spcAft>
                <a:spcPts val="1200"/>
              </a:spcAft>
              <a:buNone/>
            </a:pPr>
            <a:r>
              <a:rPr lang="en-US" sz="1800" b="1" dirty="0">
                <a:solidFill>
                  <a:schemeClr val="tx1"/>
                </a:solidFill>
              </a:rPr>
              <a:t>A Sociedade em Rede (A Era da Informação: Economia, Sociedade e Cultura - Volume 1)</a:t>
            </a:r>
            <a:pPr algn="l" indent="0" marL="0">
              <a:spcAft>
                <a:spcPts val="1200"/>
              </a:spcAft>
              <a:buNone/>
            </a:pPr>
            <a:r>
              <a:rPr lang="en-US" sz="1800" dirty="0">
                <a:solidFill>
                  <a:schemeClr val="tx1"/>
                </a:solidFill>
              </a:rPr>
              <a:t>. 15.ª ed. São Paulo: Paz e Terra, 2011.</a:t>
            </a:r>
            <a:endParaRPr lang="en-US" sz="1800" dirty="0"/>
          </a:p>
          <a:p>
            <a:pPr algn="l" indent="0" marL="0">
              <a:spcAft>
                <a:spcPts val="1200"/>
              </a:spcAft>
              <a:buNone/>
            </a:pPr>
            <a:r>
              <a:rPr lang="en-US" sz="1800" dirty="0">
                <a:solidFill>
                  <a:schemeClr val="tx1"/>
                </a:solidFill>
              </a:rPr>
              <a:t>ELMASRI, Ramez; NAVATHE, Shamkant B. </a:t>
            </a:r>
            <a:pPr algn="l" indent="0" marL="0">
              <a:spcAft>
                <a:spcPts val="1200"/>
              </a:spcAft>
              <a:buNone/>
            </a:pPr>
            <a:r>
              <a:rPr lang="en-US" sz="1800" b="1" dirty="0">
                <a:solidFill>
                  <a:schemeClr val="tx1"/>
                </a:solidFill>
              </a:rPr>
              <a:t>Sistemas de Banco de Dados</a:t>
            </a:r>
            <a:pPr algn="l" indent="0" marL="0">
              <a:spcAft>
                <a:spcPts val="1200"/>
              </a:spcAft>
              <a:buNone/>
            </a:pPr>
            <a:r>
              <a:rPr lang="en-US" sz="1800" dirty="0">
                <a:solidFill>
                  <a:schemeClr val="tx1"/>
                </a:solidFill>
              </a:rPr>
              <a:t>. 6.ª ed. São Paulo: Pearson Education, 2011.</a:t>
            </a:r>
            <a:endParaRPr lang="en-US" sz="1800" dirty="0"/>
          </a:p>
          <a:p>
            <a:pPr algn="l" indent="0" marL="0">
              <a:spcAft>
                <a:spcPts val="1200"/>
              </a:spcAft>
              <a:buNone/>
            </a:pPr>
            <a:r>
              <a:rPr lang="en-US" sz="1800" dirty="0">
                <a:solidFill>
                  <a:schemeClr val="tx1"/>
                </a:solidFill>
              </a:rPr>
              <a:t>FLANAGAN, David. </a:t>
            </a:r>
            <a:pPr algn="l" indent="0" marL="0">
              <a:spcAft>
                <a:spcPts val="1200"/>
              </a:spcAft>
              <a:buNone/>
            </a:pPr>
            <a:r>
              <a:rPr lang="en-US" sz="1800" b="1" dirty="0">
                <a:solidFill>
                  <a:schemeClr val="tx1"/>
                </a:solidFill>
              </a:rPr>
              <a:t>JavaScript: O Guia Definitivo</a:t>
            </a:r>
            <a:pPr algn="l" indent="0" marL="0">
              <a:spcAft>
                <a:spcPts val="1200"/>
              </a:spcAft>
              <a:buNone/>
            </a:pPr>
            <a:r>
              <a:rPr lang="en-US" sz="1800" dirty="0">
                <a:solidFill>
                  <a:schemeClr val="tx1"/>
                </a:solidFill>
              </a:rPr>
              <a:t>. 6.ª ed. Porto Alegre: Bookman, 2012.</a:t>
            </a:r>
            <a:endParaRPr lang="en-US" sz="1800" dirty="0"/>
          </a:p>
          <a:p>
            <a:pPr algn="l" indent="0" marL="0">
              <a:spcAft>
                <a:spcPts val="1200"/>
              </a:spcAft>
              <a:buNone/>
            </a:pPr>
            <a:r>
              <a:rPr lang="en-US" sz="1800" dirty="0">
                <a:solidFill>
                  <a:schemeClr val="tx1"/>
                </a:solidFill>
              </a:rPr>
              <a:t>OWASP FOUNDATION. </a:t>
            </a:r>
            <a:pPr algn="l" indent="0" marL="0">
              <a:spcAft>
                <a:spcPts val="1200"/>
              </a:spcAft>
              <a:buNone/>
            </a:pPr>
            <a:r>
              <a:rPr lang="en-US" sz="1800" b="1" dirty="0">
                <a:solidFill>
                  <a:schemeClr val="tx1"/>
                </a:solidFill>
              </a:rPr>
              <a:t>OWASP Top 10 Application Security Risks</a:t>
            </a:r>
            <a:pPr algn="l" indent="0" marL="0">
              <a:spcAft>
                <a:spcPts val="1200"/>
              </a:spcAft>
              <a:buNone/>
            </a:pPr>
            <a:r>
              <a:rPr lang="en-US" sz="1800" dirty="0">
                <a:solidFill>
                  <a:schemeClr val="tx1"/>
                </a:solidFill>
              </a:rPr>
              <a:t>. Disponível em oficiais de segurança cibernética, 2021.</a:t>
            </a:r>
            <a:endParaRPr lang="en-US" sz="1800" dirty="0"/>
          </a:p>
          <a:p>
            <a:pPr algn="l" indent="0" marL="0">
              <a:spcAft>
                <a:spcPts val="1200"/>
              </a:spcAft>
              <a:buNone/>
            </a:pPr>
            <a:r>
              <a:rPr lang="en-US" sz="1800" dirty="0">
                <a:solidFill>
                  <a:schemeClr val="tx1"/>
                </a:solidFill>
              </a:rPr>
              <a:t>PRESSMAN, Roger S.; MAXIM, Bruce R. </a:t>
            </a:r>
            <a:pPr algn="l" indent="0" marL="0">
              <a:spcAft>
                <a:spcPts val="1200"/>
              </a:spcAft>
              <a:buNone/>
            </a:pPr>
            <a:r>
              <a:rPr lang="en-US" sz="1800" b="1" dirty="0">
                <a:solidFill>
                  <a:schemeClr val="tx1"/>
                </a:solidFill>
              </a:rPr>
              <a:t>Engenharia de Software: Uma Abordagem Profissional</a:t>
            </a:r>
            <a:pPr algn="l" indent="0" marL="0">
              <a:spcAft>
                <a:spcPts val="1200"/>
              </a:spcAft>
              <a:buNone/>
            </a:pPr>
            <a:r>
              <a:rPr lang="en-US" sz="1800" dirty="0">
                <a:solidFill>
                  <a:schemeClr val="tx1"/>
                </a:solidFill>
              </a:rPr>
              <a:t>. 8.ª ed. Porto Alegre: AMGH, 2016.</a:t>
            </a:r>
            <a:endParaRPr lang="en-US" sz="1800" dirty="0"/>
          </a:p>
          <a:p>
            <a:pPr algn="l" indent="0" marL="0">
              <a:spcAft>
                <a:spcPts val="1200"/>
              </a:spcAft>
              <a:buNone/>
            </a:pPr>
            <a:r>
              <a:rPr lang="en-US" sz="1800" dirty="0">
                <a:solidFill>
                  <a:schemeClr val="tx1"/>
                </a:solidFill>
              </a:rPr>
              <a:t>SOMMERVILLE, Ian. </a:t>
            </a:r>
            <a:pPr algn="l" indent="0" marL="0">
              <a:spcAft>
                <a:spcPts val="1200"/>
              </a:spcAft>
              <a:buNone/>
            </a:pPr>
            <a:r>
              <a:rPr lang="en-US" sz="1800" b="1" dirty="0">
                <a:solidFill>
                  <a:schemeClr val="tx1"/>
                </a:solidFill>
              </a:rPr>
              <a:t>Engenharia de Software</a:t>
            </a:r>
            <a:pPr algn="l" indent="0" marL="0">
              <a:spcAft>
                <a:spcPts val="1200"/>
              </a:spcAft>
              <a:buNone/>
            </a:pPr>
            <a:r>
              <a:rPr lang="en-US" sz="1800" dirty="0">
                <a:solidFill>
                  <a:schemeClr val="tx1"/>
                </a:solidFill>
              </a:rPr>
              <a:t>. 9.ª ed. São Paulo: Pearson Prentice Hall, 2011.</a:t>
            </a:r>
            <a:endParaRPr lang="en-US" sz="1800" dirty="0"/>
          </a:p>
          <a:p>
            <a:pPr algn="l" indent="0" marL="0">
              <a:spcAft>
                <a:spcPts val="1200"/>
              </a:spcAft>
              <a:buNone/>
            </a:pPr>
            <a:r>
              <a:rPr lang="en-US" sz="1800" dirty="0">
                <a:solidFill>
                  <a:schemeClr val="tx1"/>
                </a:solidFill>
              </a:rPr>
              <a:t>W3C CONSORTIUM. </a:t>
            </a:r>
            <a:pPr algn="l" indent="0" marL="0">
              <a:spcAft>
                <a:spcPts val="1200"/>
              </a:spcAft>
              <a:buNone/>
            </a:pPr>
            <a:r>
              <a:rPr lang="en-US" sz="1800" b="1" dirty="0">
                <a:solidFill>
                  <a:schemeClr val="tx1"/>
                </a:solidFill>
              </a:rPr>
              <a:t>HTML5 Semantic Markup and Architecture Specifications</a:t>
            </a:r>
            <a:pPr algn="l" indent="0" marL="0">
              <a:spcAft>
                <a:spcPts val="1200"/>
              </a:spcAft>
              <a:buNone/>
            </a:pPr>
            <a:r>
              <a:rPr lang="en-US" sz="1800" dirty="0">
                <a:solidFill>
                  <a:schemeClr val="tx1"/>
                </a:solidFill>
              </a:rPr>
              <a:t>. World Wide Web Consortium Standard Report, 2022.</a:t>
            </a:r>
            <a:endParaRPr lang="en-US" sz="1800" dirty="0"/>
          </a:p>
        </p:txBody>
      </p:sp>
      <p:sp>
        <p:nvSpPr>
          <p:cNvPr id="25" name="Slide Number Placeholder 0"/>
          <p:cNvSpPr>
            <a:spLocks noGrp="1"/>
          </p:cNvSpPr>
          <p:nvPr>
            <p:ph type="sldNum" sz="quarter" idx="4294967295"/>
          </p:nvPr>
        </p:nvSpPr>
        <p:spPr>
          <a:xfrm>
            <a:off x="457200" y="640080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2F5496"/>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ITCL Alertas">
  <a:themeElements>
    <a:clrScheme name="ITCL Alertas">
      <a:dk1>
        <a:srgbClr val="1F1F1F"/>
      </a:dk1>
      <a:lt1>
        <a:srgbClr val="FFFFFF"/>
      </a:lt1>
      <a:dk2>
        <a:srgbClr val="2F5496"/>
      </a:dk2>
      <a:lt2>
        <a:srgbClr val="EAF0F8"/>
      </a:lt2>
      <a:accent1>
        <a:srgbClr val="2F5496"/>
      </a:accent1>
      <a:accent2>
        <a:srgbClr val="FFE600"/>
      </a:accent2>
      <a:accent3>
        <a:srgbClr val="E30613"/>
      </a:accent3>
      <a:accent4>
        <a:srgbClr val="8FAADC"/>
      </a:accent4>
      <a:accent5>
        <a:srgbClr val="595959"/>
      </a:accent5>
      <a:accent6>
        <a:srgbClr val="1F3864"/>
      </a:accent6>
      <a:hlink>
        <a:srgbClr val="2F5496"/>
      </a:hlink>
      <a:folHlink>
        <a:srgbClr val="595959"/>
      </a:folHlink>
    </a:clrScheme>
    <a:fontScheme name="ITCL Alertas">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Web de Alerta de Falta de Água e Energia Elétrica por Bairro</dc:title>
  <dc:subject>PptxGenJS Presentation</dc:subject>
  <dc:creator>Instituto Técnico Comercial de Luanda</dc:creator>
  <cp:lastModifiedBy>Instituto Técnico Comercial de Luanda</cp:lastModifiedBy>
  <cp:revision>1</cp:revision>
  <dcterms:created xsi:type="dcterms:W3CDTF">2026-10-18T22:36:20Z</dcterms:created>
  <dcterms:modified xsi:type="dcterms:W3CDTF">2026-10-18T22:36:20Z</dcterms:modified>
</cp:coreProperties>
</file>