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5cca853c-32b9-dd00-64c6-4cb5600d96ff}">
          <p14:sldIdLst>
            <p14:sldId id="256"/>
            <p14:sldId id="257"/>
          </p14:sldIdLst>
        </p14:section>
        <p14:section name="1. Introdução e Enquadramento" id="{e308011d-a0bb-0594-5ace-1d1cda1eec3c}">
          <p14:sldIdLst>
            <p14:sldId id="258"/>
            <p14:sldId id="259"/>
          </p14:sldIdLst>
        </p14:section>
        <p14:section name="2. Estudo de Caso e Diagnóstico Urbano" id="{8d4211f6-2498-476d-8977-507759756cd9}">
          <p14:sldIdLst>
            <p14:sldId id="260"/>
            <p14:sldId id="261"/>
          </p14:sldIdLst>
        </p14:section>
        <p14:section name="3. Engenharia de Requisitos do Sistema" id="{7c1dfd91-93f6-5583-0fd3-e3d406daa544}">
          <p14:sldIdLst>
            <p14:sldId id="262"/>
            <p14:sldId id="263"/>
          </p14:sldIdLst>
        </p14:section>
        <p14:section name="4. Problematização e Questão de Investigação" id="{12d406cc-9f9e-7781-31ee-facae1e961ab}">
          <p14:sldIdLst>
            <p14:sldId id="264"/>
            <p14:sldId id="265"/>
          </p14:sldIdLst>
        </p14:section>
        <p14:section name="5. Objetivos da Investigação" id="{1de989f2-9fa7-0534-f1bd-9e6caeabbd54}">
          <p14:sldIdLst>
            <p14:sldId id="266"/>
            <p14:sldId id="267"/>
          </p14:sldIdLst>
        </p14:section>
        <p14:section name="6. Estudo de Comparação e Estado da Arte" id="{e6419f86-532c-cb8e-9fa6-53f2dce0a408}">
          <p14:sldIdLst>
            <p14:sldId id="268"/>
            <p14:sldId id="269"/>
          </p14:sldIdLst>
        </p14:section>
        <p14:section name="7. Pilha Tecnológica Selecionada (Front-end)" id="{2fcfc9df-1e9e-860e-9c3d-068096539825}">
          <p14:sldIdLst>
            <p14:sldId id="270"/>
            <p14:sldId id="271"/>
            <p14:sldId id="272"/>
          </p14:sldIdLst>
        </p14:section>
        <p14:section name="8. Pilha Tecnológica Selecionada (Back-end e Dados)" id="{0191f2b0-3e71-31fb-194e-7f7e5866aa33}">
          <p14:sldIdLst>
            <p14:sldId id="273"/>
            <p14:sldId id="274"/>
          </p14:sldIdLst>
        </p14:section>
        <p14:section name="9. Arquitetura Estrutural e Fluxos de Dados" id="{aa12e467-a79c-5193-54d3-d98a5a5bc55e}">
          <p14:sldIdLst>
            <p14:sldId id="275"/>
            <p14:sldId id="276"/>
          </p14:sldIdLst>
        </p14:section>
        <p14:section name="10. Comparação Crítica das Ferramentas Computacionais" id="{14526c14-d694-74a9-a1a5-f664e255711b}">
          <p14:sldIdLst>
            <p14:sldId id="277"/>
            <p14:sldId id="278"/>
          </p14:sldIdLst>
        </p14:section>
        <p14:section name="11. Conclusões e Considerações Finais" id="{d1def52a-14f1-c516-a59b-75931b5256e1}">
          <p14:sldIdLst>
            <p14:sldId id="279"/>
            <p14:sldId id="280"/>
          </p14:sldIdLst>
        </p14:section>
        <p14:section name="12. Referências Bibliográficas" id="{664efdc6-d0c3-3c0e-5405-c10324685ae4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1548872" cy="6309360"/>
          </a:xfrm>
          <a:prstGeom prst="rect">
            <a:avLst/>
          </a:prstGeom>
          <a:ln w="381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1365992" cy="612648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74320"/>
            <a:ext cx="1490472" cy="51023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i="1" dirty="0">
                <a:solidFill>
                  <a:srgbClr val="595959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F5496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ótipo ITCL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731520"/>
            <a:ext cx="3566160" cy="12207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86000" y="2103120"/>
            <a:ext cx="7616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Ministério da Educação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Instituto Técnico Comercial de Luanda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3017520"/>
            <a:ext cx="9994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SISTEMA WEB DE ALERTA DE ÁGUA E</a:t>
            </a:r>
            <a:endParaRPr lang="en-US" sz="3200" dirty="0"/>
          </a:p>
          <a:p>
            <a:pPr algn="ctr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1"/>
                </a:solidFill>
              </a:rPr>
              <a:t>ENERGIA ELÉCTRICA POR BAIRRO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4617720"/>
            <a:ext cx="8897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Desenho e Implementação de um Protótipo Colaborativo Baseado na Arquitetura LAMP para Mitigação de Crises de Abastecimento Urbano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270248" y="5623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Mariano João Muondo · Turma CTI · N.º 16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Luanda, Angola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</a:rPr>
              <a:t>Documento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5496"/>
                </a:solidFill>
              </a:rPr>
              <a:t>Sumário</a:t>
            </a:r>
            <a:endParaRPr lang="en-US" sz="3200" dirty="0"/>
          </a:p>
        </p:txBody>
      </p:sp>
      <p:sp>
        <p:nvSpPr>
          <p:cNvPr id="4" name="Sumário entradas"/>
          <p:cNvSpPr txBox="1"/>
          <p:nvPr/>
        </p:nvSpPr>
        <p:spPr>
          <a:xfrm>
            <a:off x="457200" y="1783080"/>
            <a:ext cx="5074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1. Introdução e Enquadramento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2. Estudo de Caso e Diagnóstico Urbano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3. Problematização e Pergunta de Investigação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Objectivos da Investigação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5. Metodologia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6. Fundamentação Teórica e Revisão Bibliográfica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7. Engenharia de Requisitos do Sistema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8. Estudo de Comparação e Estado da Arte</a:t>
            </a:r>
            <a:endParaRPr lang="en-US" sz="1400" dirty="0"/>
          </a:p>
        </p:txBody>
      </p:sp>
      <p:sp>
        <p:nvSpPr>
          <p:cNvPr id="5" name="Sumário slides"/>
          <p:cNvSpPr txBox="1"/>
          <p:nvPr/>
        </p:nvSpPr>
        <p:spPr>
          <a:xfrm>
            <a:off x="5577840" y="1783080"/>
            <a:ext cx="411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9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11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13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16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21</a:t>
            </a:r>
            <a:endParaRPr lang="en-US" sz="1400" dirty="0"/>
          </a:p>
        </p:txBody>
      </p:sp>
      <p:sp>
        <p:nvSpPr>
          <p:cNvPr id="6" name="Sumário entradas"/>
          <p:cNvSpPr txBox="1"/>
          <p:nvPr/>
        </p:nvSpPr>
        <p:spPr>
          <a:xfrm>
            <a:off x="6217920" y="1783080"/>
            <a:ext cx="5074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9. Tecnologias Seleccionadas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10. Arquitectura e Modelação da Base de Dados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11. Lógica de Consolidação e Validação dos Alertas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12. Segurança e Protecção dos Dados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13. Comparação Crítica das Ferramentas Computacionais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14. Plano de Testes do Protótipo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15. Conclusões e Considerações Finais</a:t>
            </a:r>
            <a:endParaRPr lang="en-US" sz="1400" dirty="0"/>
          </a:p>
          <a:p>
            <a:pPr algn="l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16. Referências Bibliográficas</a:t>
            </a:r>
            <a:endParaRPr lang="en-US" sz="1400" dirty="0"/>
          </a:p>
        </p:txBody>
      </p:sp>
      <p:sp>
        <p:nvSpPr>
          <p:cNvPr id="7" name="Sumário slides"/>
          <p:cNvSpPr txBox="1"/>
          <p:nvPr/>
        </p:nvSpPr>
        <p:spPr>
          <a:xfrm>
            <a:off x="11338560" y="1783080"/>
            <a:ext cx="411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24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27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30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34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35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37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39</a:t>
            </a:r>
            <a:endParaRPr lang="en-US" sz="1400" dirty="0"/>
          </a:p>
          <a:p>
            <a:pPr algn="r"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1. Introdução e Enquadramento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1.1. Contextualização Histórica e Social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urbanização acelerada das grandes cidades coloca desafios importantes à gestão das redes de infra-estrutura básica. O abastecimento de água potável e de energia eléctrica é essencial para a saúde, para a actividade económica e para a dignidade das famílias.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Quando o fornecimento é interrompido, os moradores precisam de saber rapidamente se o problema afecta apenas a sua residência ou todo o bairro, para poderem organizar-se. Castells (2011) defende que a sociedade contemporânea se organiza em torno de redes de informação; a falta de canais organizados para comunicar ocorrências dificulta a coordenação da comunidade.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1. Introdução e Enquadramento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1.2. Justificação Científica e Prática do Tema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 tema permite aplicar conceitos de Engenharia de Software, bases de dados relacionais e desenvolvimento web a um problema concreto da vida urbana. Em Luanda, as interrupções são comunicadas por chamadas, mensagens e redes sociais, sem estrutura comum e sem registo histórico consultável.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Propõe-se um sistema web colaborativo que tem o bairro como unidade de organização da informação, assente na recolha participativa de dados (Goodchild, 2007; Howe, 2008). A intenção é organizar os relatos, reduzir a duplicação e apresentar uma visão consolidada por bairro.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1. Introdução e Enquadramento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1.3. Delimitação do Estudo e Estado do Projecto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800" dirty="0" b="1">
                <a:solidFill>
                  <a:schemeClr val="tx1"/>
                </a:solidFill>
              </a:rPr>
              <a:t>Âmbito: </a:t>
            </a:r>
            <a:r>
              <a:rPr lang="en-US" sz="1800" dirty="0" b="0">
                <a:solidFill>
                  <a:schemeClr val="tx1"/>
                </a:solidFill>
              </a:rPr>
              <a:t>contexto urbano de Luanda e comunicação de interrupções de água e energia eléctrica.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800" dirty="0" b="1">
                <a:solidFill>
                  <a:schemeClr val="tx1"/>
                </a:solidFill>
              </a:rPr>
              <a:t>Não substitui </a:t>
            </a:r>
            <a:r>
              <a:rPr lang="en-US" sz="1800" dirty="0" b="0">
                <a:solidFill>
                  <a:schemeClr val="tx1"/>
                </a:solidFill>
              </a:rPr>
              <a:t>os sistemas técnicos das concessionárias, não confirma avarias físicas e não garante a reparação do serviço; apoia a circulação de informação entre cidadãos.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800" dirty="0" b="1">
                <a:solidFill>
                  <a:schemeClr val="tx1"/>
                </a:solidFill>
              </a:rPr>
              <a:t>Estado actual: </a:t>
            </a:r>
            <a:r>
              <a:rPr lang="en-US" sz="1800" dirty="0" b="0">
                <a:solidFill>
                  <a:schemeClr val="tx1"/>
                </a:solidFill>
              </a:rPr>
              <a:t>documentados a análise do problema, requisitos, selecção tecnológica, arquitectura, modelação da base de dados, lógica de consolidação e plano de testes.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800" dirty="0" b="1">
                <a:solidFill>
                  <a:schemeClr val="tx1"/>
                </a:solidFill>
              </a:rPr>
              <a:t>Sem evidências </a:t>
            </a:r>
            <a:r>
              <a:rPr lang="en-US" sz="1800" dirty="0" b="0">
                <a:solidFill>
                  <a:schemeClr val="tx1"/>
                </a:solidFill>
              </a:rPr>
              <a:t>de instalação, publicação, validação por entidades públicas ou ensaio com cidadãos: as funcionalidades são especificação e desenho do protótipo; os testes constam como pendentes.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2. Estudo de Caso e Diagnóstico Urbano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2.1. O Cenário da Região Metropolitana de Luanda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 Região Metropolitana de Luanda é o contexto do estudo de caso: uma área urbana extensa e densamente povoada, com grande diversidade de bairros e uma organização administrativa que dificulta a recolha uniforme de informação local.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O abastecimento de água é da responsabilidade da EPAL (Empresa Pública de Águas de Luanda) e a distribuição de energia eléctrica está associada à ENDE (Empresa Nacional de Distribuição de Electricidade).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O trabalho não apresenta estatísticas sobre população, frequência das interrupções ou prejuízos, por não haver fontes verificáveis. Estudos futuros poderão usar dados oficiais (INE e concessionárias).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2. Estudo de Caso e Diagnóstico Urbano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2.2. Fluxo Actual de Informações Informais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Sem um canal comunitário organizado, os moradores recorrem a chamadas e redes sociais (Facebook, WhatsApp, X). Problemas deste processo: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Dispersão: relatos espalhados por grupos e publicações diferentes;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Repetição: a mesma ocorrência relatada várias vezes;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Desactualização: sem indicação clara de quando a situação foi resolvida;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Localização imprecisa: local e tipo de falha nem sempre indicados;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Ausência de histórico: informação não registada de forma estruturada.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Segundo Sommerville (2011), a falta de estrutura dificulta o tratamento e a reutilização da informação.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2. Estudo de Caso e Diagnóstico Urbano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2.3. Papel e Limites do Sistema Proposto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 sistema pretende apoiar os cidadãos a registar ocorrências, a consultar o estado dos alertas por bairro e a perceber se existem vários relatos semelhantes.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Um alerta consolidado pela plataforma representa a percepção da comunidade e não uma confirmação oficial. Qualquer confirmação por parte da EPAL ou da ENDE exigiria uma fonte própria, que está fora do âmbito deste protótipo.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3. Problematização e Pergunta de Investigação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3.1. Delimitação do Problema e Impactos Possíveis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chemeClr val="tx1"/>
                </a:solidFill>
              </a:rPr>
              <a:t>Problema: </a:t>
            </a:r>
            <a:r>
              <a:rPr lang="en-US" sz="2000" dirty="0" b="0">
                <a:solidFill>
                  <a:schemeClr val="tx1"/>
                </a:solidFill>
              </a:rPr>
              <a:t>é de comunicação e organização da informação. Os relatos sobre interrupções circulam por canais dispersos, sem estrutura comum, sem consolidação e sem histórico, o que dificulta distinguir uma situação isolada (ex.: problema interno de uma habitação) de uma possível interrupção que afecta vários moradores do bairro.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chemeClr val="tx1"/>
                </a:solidFill>
              </a:rPr>
              <a:t>Impactos possíveis: </a:t>
            </a:r>
            <a:r>
              <a:rPr lang="en-US" sz="2000" dirty="0" b="0">
                <a:solidFill>
                  <a:schemeClr val="tx1"/>
                </a:solidFill>
              </a:rPr>
              <a:t>a falta de informação organizada pode dificultar o planeamento das famílias e dos pequenos negócios. Estes impactos são tratados como hipóteses de motivação e não como resultados medidos, pois não existem dados verificáveis sobre custos ou prejuízos.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3. Problematização e Pergunta de Investigação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3.3. Pergunta de Investigação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 base no problema exposto, formula-se a seguinte pergunta de investigação:</a:t>
            </a:r>
            <a:endParaRPr lang="en-US" sz="2000" dirty="0"/>
          </a:p>
        </p:txBody>
      </p:sp>
      <p:sp>
        <p:nvSpPr>
          <p:cNvPr id="5" name="destaque"/>
          <p:cNvSpPr/>
          <p:nvPr/>
        </p:nvSpPr>
        <p:spPr>
          <a:xfrm>
            <a:off x="457200" y="3611880"/>
            <a:ext cx="11274552" cy="250850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000" tIns="381000" rIns="381000" bIns="381000" rtlCol="0" anchor="ctr"/>
          <a:lstStyle/>
          <a:p>
            <a:pPr algn="l" indent="0" marL="0">
              <a:lnSpc>
                <a:spcPts val="3168"/>
              </a:lnSpc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bg1"/>
                </a:solidFill>
              </a:rPr>
              <a:t>De que forma o desenvolvimento de um sistema web colaborativo de alertas por bairro pode melhorar a organização, a consulta e a divulgação de informações sobre interrupções no abastecimento de água e energia eléctrica em Luanda?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4. Objectivos da Investigação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4.1. Objectivo Geral</a:t>
            </a:r>
            <a:endParaRPr lang="en-US" sz="3200" dirty="0"/>
          </a:p>
        </p:txBody>
      </p:sp>
      <p:sp>
        <p:nvSpPr>
          <p:cNvPr id="4" name="destaque"/>
          <p:cNvSpPr/>
          <p:nvPr/>
        </p:nvSpPr>
        <p:spPr>
          <a:xfrm>
            <a:off x="457200" y="2011680"/>
            <a:ext cx="11274552" cy="3413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381000" tIns="381000" rIns="381000" bIns="381000" rtlCol="0" anchor="ctr"/>
          <a:lstStyle/>
          <a:p>
            <a:pPr algn="l" indent="0" marL="0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1"/>
                </a:solidFill>
              </a:rPr>
              <a:t>Desenvolver um sistema web colaborativo de alerta de falta de água e energia eléctrica por bairro, no contexto urbano de Luanda, que permita aos cidadãos registar ocorrências, consultar o estado do abastecimento e acompanhar alertas consolidados por localização, contribuindo para uma melhor circulação de informação e para a resposta comunitária às interrupções dos serviços.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4. Objectivos da Investigação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4.2. Objectivos Específicos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1. </a:t>
            </a:r>
            <a:r>
              <a:rPr lang="en-US" sz="1500" dirty="0" b="0">
                <a:solidFill>
                  <a:schemeClr val="tx1"/>
                </a:solidFill>
              </a:rPr>
              <a:t>Rever a literatura sobre sistemas web, sistemas de informação, bases de dados, sistemas colaborativos e comunicação de ocorrências urbanas.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2. </a:t>
            </a:r>
            <a:r>
              <a:rPr lang="en-US" sz="1500" dirty="0" b="0">
                <a:solidFill>
                  <a:schemeClr val="tx1"/>
                </a:solidFill>
              </a:rPr>
              <a:t>Especificar os requisitos funcionais (13 RF) e não funcionais (10 RNF).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3. </a:t>
            </a:r>
            <a:r>
              <a:rPr lang="en-US" sz="1500" dirty="0" b="0">
                <a:solidFill>
                  <a:schemeClr val="tx1"/>
                </a:solidFill>
              </a:rPr>
              <a:t>Analisar o problema e definir utilizadores, módulos e processos.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4. </a:t>
            </a:r>
            <a:r>
              <a:rPr lang="en-US" sz="1500" dirty="0" b="0">
                <a:solidFill>
                  <a:schemeClr val="tx1"/>
                </a:solidFill>
              </a:rPr>
              <a:t>Modelar uma base de dados relacional (utilizadores, bairros, tipos, alertas, estados, auditoria).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5. </a:t>
            </a:r>
            <a:r>
              <a:rPr lang="en-US" sz="1500" dirty="0" b="0">
                <a:solidFill>
                  <a:schemeClr val="tx1"/>
                </a:solidFill>
              </a:rPr>
              <a:t>Comparar e justificar as tecnologias: HTML5, CSS3, JavaScript, PHP, MySQL e Apache.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6. </a:t>
            </a:r>
            <a:r>
              <a:rPr lang="en-US" sz="1500" dirty="0" b="0">
                <a:solidFill>
                  <a:schemeClr val="tx1"/>
                </a:solidFill>
              </a:rPr>
              <a:t>Desenhar e desenvolver as interfaces e funcionalidades do sistema.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7. </a:t>
            </a:r>
            <a:r>
              <a:rPr lang="en-US" sz="1500" dirty="0" b="0">
                <a:solidFill>
                  <a:schemeClr val="tx1"/>
                </a:solidFill>
              </a:rPr>
              <a:t>Definir e implementar o mecanismo de consolidação de ocorrências.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8. </a:t>
            </a:r>
            <a:r>
              <a:rPr lang="en-US" sz="1500" dirty="0" b="0">
                <a:solidFill>
                  <a:schemeClr val="tx1"/>
                </a:solidFill>
              </a:rPr>
              <a:t>Definir e executar testes funcionais, de validação, segurança básica e usabilidade, com dados fictícios.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Estado: objectivos 1 a 5 e o plano do 8 estão documentados; os objectivos 6, 7 e a execução dos testes dependem do protótipo.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5. Metodologia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5.1. Abordagem e Etapas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Investigação aplicada, de natureza qualitativa e orientada para o desenvolvimento de um artefacto de software. Etapas: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pesquisa bibliográfica (engenharia de software, bases de dados, web e documentação técnica oficial);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análise do problema com base no contexto e na literatura;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levantamento e especificação de requisitos funcionais e não funcionais;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modelação da arquitectura e da base de dados;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selecção das tecnologias (adequação ao âmbito, custo e simplicidade);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desenho das interfaces e desenvolvimento das funcionalidades;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testes funcionais, de segurança básica e de usabilidade, com dados fictícios.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Não foram realizadas entrevistas, inquéritos, visitas de campo nem recolhas com utilizadores reais; esta limitação é assumida.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5. Metodologia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5.2. Estado das Etapas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3360000"/>
        </p:xfrm>
        <a:graphic>
          <a:graphicData uri="http://schemas.openxmlformats.org/drawingml/2006/table">
            <a:tbl>
              <a:tblPr/>
              <a:tblGrid>
                <a:gridCol w="3252274"/>
                <a:gridCol w="2601819"/>
                <a:gridCol w="5420457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Etapa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Observação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Pesquisa bibliográfica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Concluída (nesta versão)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Fontes no capítulo 16; algumas edições a confirmar no exemplar consultado.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Análise do problema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Concluída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Baseada na literatura e no contexto descrito.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Requisitos (RF e RNF)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Concluída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Capítulo 7.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Modelação (arquitectura e dados)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Concluída (modelo proposto)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Capítulo 10; sem evidência de base de dados instalada.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Selecção tecnológica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Concluída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Capítulos 9 e 13.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Desenvolvimento do protótipo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Sem evidência anexada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Código-fonte não anexado; funcionalidades tratadas como especificadas.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Pendentes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Plano no capítulo 14; resultados não executados.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6. Fundamentação Teórica e Revisão Bibliográfica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6. Fundamentação Teórica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7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6.1 Sistemas web: </a:t>
            </a:r>
            <a:r>
              <a:rPr lang="en-US" sz="1500" dirty="0" b="0">
                <a:solidFill>
                  <a:schemeClr val="tx1"/>
                </a:solidFill>
              </a:rPr>
              <a:t>modelo cliente-servidor; o navegador envia pedidos HTTP e o servidor processa a lógica, consulta a base de dados e responde em HTML. A separação em camadas facilita a manutenção (Sommerville, 2011).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7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6.2 Requisitos: </a:t>
            </a:r>
            <a:r>
              <a:rPr lang="en-US" sz="1500" dirty="0" b="0">
                <a:solidFill>
                  <a:schemeClr val="tx1"/>
                </a:solidFill>
              </a:rPr>
              <a:t>a engenharia de requisitos identifica o que o sistema deve fazer (RF) e com que qualidades (RNF), de forma verificável e rastreável (Pressman &amp; Maxim, 2016).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7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6.3 Bases de dados relacionais: </a:t>
            </a:r>
            <a:r>
              <a:rPr lang="en-US" sz="1500" dirty="0" b="0">
                <a:solidFill>
                  <a:schemeClr val="tx1"/>
                </a:solidFill>
              </a:rPr>
              <a:t>tabelas ligadas por chaves, integridade por restrições e transacções ACID; a normalização reduz redundância (Elmasri &amp; Navathe, 2011).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7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6.4 Sistemas colaborativos: </a:t>
            </a:r>
            <a:r>
              <a:rPr lang="en-US" sz="1500" dirty="0" b="0">
                <a:solidFill>
                  <a:schemeClr val="tx1"/>
                </a:solidFill>
              </a:rPr>
              <a:t>os utilizadores contribuem com informação (Howe, 2008); com componente geográfica, são «sensores» (Goodchild, 2007), como no Ushahidi. O desafio é a fiabilidade.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700"/>
              </a:spcAft>
              <a:buNone/>
            </a:pPr>
            <a:r>
              <a:rPr lang="en-US" sz="1500" dirty="0" b="1">
                <a:solidFill>
                  <a:schemeClr val="tx1"/>
                </a:solidFill>
              </a:rPr>
              <a:t>6.5 Segurança e usabilidade: </a:t>
            </a:r>
            <a:r>
              <a:rPr lang="en-US" sz="1500" dirty="0" b="0">
                <a:solidFill>
                  <a:schemeClr val="tx1"/>
                </a:solidFill>
              </a:rPr>
              <a:t>a OWASP (2021) aponta injecção de código e falhas de acesso e autenticação; em PHP usam-se PDO e password_hash. HTML5 semântico e interfaces responsivas melhoram a acessibilidade (W3C, 2014).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7. Engenharia de Requisitos do Sistema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7.1. Requisitos Funcionais (1/2)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3360000"/>
        </p:xfrm>
        <a:graphic>
          <a:graphicData uri="http://schemas.openxmlformats.org/drawingml/2006/table">
            <a:tbl>
              <a:tblPr/>
              <a:tblGrid>
                <a:gridCol w="1127455"/>
                <a:gridCol w="2818638"/>
                <a:gridCol w="5637276"/>
                <a:gridCol w="1691182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Código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Requisito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Descrição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RF-001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Registo de utilizadores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Conta com dados estritamente necessários (nome, e-mail único, palavra-passe, bairro).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Núcleo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RF-002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Autenticação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Entrada e encerramento de sessão.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Núcleo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RF-003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Gestão de perfil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Consulta e actualização autorizada dos dados.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Complementar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RF-004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Selecção de bairro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Associação dos registos a um bairro de uma lista predefinida.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Núcleo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RF-005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Submissão de ocorrências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Falta de água, de energia eléctrica ou de ambas.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Núcleo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RF-006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Registo temporal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Guardar data e hora de cada ocorrência.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Núcleo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RF-007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Consulta de alertas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Por bairro, tipo de serviço, data e estado.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Núcleo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7. Engenharia de Requisitos do Sistema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7.1. Requisitos Funcionais (2/2)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2940000"/>
        </p:xfrm>
        <a:graphic>
          <a:graphicData uri="http://schemas.openxmlformats.org/drawingml/2006/table">
            <a:tbl>
              <a:tblPr/>
              <a:tblGrid>
                <a:gridCol w="1127455"/>
                <a:gridCol w="2818638"/>
                <a:gridCol w="5637276"/>
                <a:gridCol w="1691182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Código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Requisito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Descrição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RF-008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Painel público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Estados dos alertas sem divulgar dados pessoais.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Núcleo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RF-009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Consolidação de ocorrências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Agregação de relatos semelhantes por período, bairro e serviço.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Núcleo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RF-010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Prevenção de duplicações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Limitar ou sinalizar relatos repetidos do mesmo utilizador.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Núcleo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RF-011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Gestão de estados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Actualização controlada do estado de um alerta (sec. 11.1).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Complementar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RF-012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Relatórios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Resumos ou estatísticas das ocorrências.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Trabalho futuro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RF-013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Registo de alterações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Histórico de alterações e operações administrativas.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Complementar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7. Engenharia de Requisitos do Sistema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7.2. Requisitos Não Funcionais (1/2)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2520000"/>
        </p:xfrm>
        <a:graphic>
          <a:graphicData uri="http://schemas.openxmlformats.org/drawingml/2006/table">
            <a:tbl>
              <a:tblPr/>
              <a:tblGrid>
                <a:gridCol w="2571389"/>
                <a:gridCol w="5142778"/>
                <a:gridCol w="3560384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Requisito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Descrição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Forma de verificação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RNF-001 Segurança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Proteger contas, sessões e operações (hashing, consultas parametrizadas, controlo de acesso).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Testes de segurança básica (T-08 a T-10).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RNF-002 Privacidade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Recolher o mínimo de dados pessoais e não os divulgar no painel público.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Revisão do painel e dos dados armazenados.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RNF-003 Integridade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Consistência dos registos através de chaves estrangeiras e restrições.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Inserção inválida deve ser rejeitada.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RNF-004 Usabilidade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Interface compreensível, submissão em poucos passos.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 com utilizadores fictícios (T-12).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RNF-005 Responsividade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Adaptação a telemóveis, tablets e computadores.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Verificação em larguras de ecrã diferentes.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7. Engenharia de Requisitos do Sistema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7.2. Requisitos Não Funcionais (2/2)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2520000"/>
        </p:xfrm>
        <a:graphic>
          <a:graphicData uri="http://schemas.openxmlformats.org/drawingml/2006/table">
            <a:tbl>
              <a:tblPr/>
              <a:tblGrid>
                <a:gridCol w="2571389"/>
                <a:gridCol w="5142778"/>
                <a:gridCol w="3560384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Requisito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Descrição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Forma de verificação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RNF-006 Compatibilidade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Chrome, Firefox, Edge e Safari recentes.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 manual em cada navegador.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RNF-007 Desempenho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Meta: painel público em cerca de 3 s em ligação móvel típica.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Medição no navegador; ainda não medido.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RNF-008 Manutenção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Código por camadas, comentado, com configuração separada.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Revisão do código.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RNF-009 Cópias de segurança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Cópia e recuperação periódica da base de dados.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 de restauro.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RNF-010 Disponibilidade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Meta dependente do alojamento; sem percentagem fixada sem fundamentação.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definir após escolha do alojamento.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7. Engenharia de Requisitos do Sistema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7.3. Utilizadores e Módulos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Três perfis de utilizador: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• Visitante: consulta o painel público;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• Utilizador registado: submete ocorrências e consulta alertas;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• Administrador: gere bairros, estados e parâmetros.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Módulos principais: autenticação, ocorrências, consolidação de alertas, painel público e administração.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Estado dos requisitos: Núcleo (previsto no protótipo), Complementar (se o tempo permitir) e Trabalho futuro. Nenhum é apresentado como já implementado.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8. Estudo de Comparação e Estado da Arte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8.1. Análise de Soluções Existentes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 soluções dividem-se em canais directos (chamadas telefónicas), redes sociais e plataformas colaborativas específicas.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 Ushahidi é uma plataforma de código aberto para recolha e mapeamento de relatos de cidadãos em situações de crise, e serve de referência conceptual.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Não foi feita avaliação técnica detalhada dessa plataforma nem das aplicações das concessionárias locais; a comparação limita-se a características gerais e vantagens teóricas do protótipo.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8. Estudo de Comparação e Estado da Arte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8.2. Matriz Comparativa (1/2)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2520000"/>
        </p:xfrm>
        <a:graphic>
          <a:graphicData uri="http://schemas.openxmlformats.org/drawingml/2006/table">
            <a:tbl>
              <a:tblPr/>
              <a:tblGrid>
                <a:gridCol w="2484223"/>
                <a:gridCol w="2866411"/>
                <a:gridCol w="2866411"/>
                <a:gridCol w="3057505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Critério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Canais telefónicos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Redes sociais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Protótipo (previsto)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Organização dos dados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Registo do operador; pode não ser público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Mensagens dispersas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Dados estruturados em BD relacional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Facilidade de consulta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Depende do atendimento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Pesquisa manual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Painel por bairro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Identificação geográfica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Depende do relato oral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Frequentemente omitida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Associada ao bairro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Registo histórico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Depende da entidade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Difícil de reunir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Previsto (data, tipo, estado)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Consolidação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aplicável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Inexistente de forma nativa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Prevista (secção 11)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8. Estudo de Comparação e Estado da Arte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8.2. Matriz Comparativa (2/2)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2520000"/>
        </p:xfrm>
        <a:graphic>
          <a:graphicData uri="http://schemas.openxmlformats.org/drawingml/2006/table">
            <a:tbl>
              <a:tblPr/>
              <a:tblGrid>
                <a:gridCol w="2484223"/>
                <a:gridCol w="2866411"/>
                <a:gridCol w="2866411"/>
                <a:gridCol w="3057505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Critério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Canais telefónicos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Redes sociais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25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Protótipo (previsto)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Facilidade de utilização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Simples, mas com filas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Conhecida dos utilizadores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 validar com utilizadores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Custo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Custos da entidade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Sem custo directo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Alojamento e manutenção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Segurança e acesso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Controlado pela entidade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Controlado pela rede social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Previsto (secção 12)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Dependência da Internet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depende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Actualização dos alertas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Depende do operador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Depende dos utilizadores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5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Prevista (expiração e resolução)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9. Tecnologias Seleccionadas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9.1. Front-end: HTML5, CSS3 e JavaScript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• HTML5: estrutura com elementos semânticos (header, nav, section, article), o que favorece a acessibilidade (W3C, 2014).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• CSS3: apresentação visual; propõe-se Flexbox, CSS Grid e Media Queries numa abordagem mobile-first.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• JavaScript: interactividade, validação prévia dos formulários e envio assíncrono via Fetch API (MDN, s.d.). A validação no navegador não substitui a do servidor.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Os componentes são descritos como propostos até o código-fonte ser anexado.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9. Tecnologias Seleccionadas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9.2. Back-end e Dados: PHP, PDO, MySQL e Apache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• Apache: servidor web que recebe pedidos HTTP e os encaminha para o PHP.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• PHP: lógica do lado do servidor, sessões, validação de dados e regras de consolidação.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• PDO: acesso à base de dados com consultas parametrizadas.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• MySQL: sistema de gestão de bases de dados relacionais.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9. Tecnologias Seleccionadas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9.3. Arquitectura LAMP e Ambiente de Desenvolvimento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LAMP = Linux, Apache, MySQL e PHP. Em ambiente local no Windows, o equivalente é o WAMP (ex.: WampServer).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Só se pode afirmar que o sistema usa LAMP se for executado em Linux; se o desenvolvimento ocorrer apenas em Windows, trata-se de um ambiente WAMP, compatível com a mesma pilha de software.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Ferramentas de apoio, se efectivamente utilizadas: phpMyAdmin (administração da BD) e Visual Studio Code (editor).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 b="1">
                <a:solidFill>
                  <a:schemeClr val="tx1"/>
                </a:solidFill>
              </a:rPr>
              <a:t>Comunicação: </a:t>
            </a:r>
            <a:r>
              <a:rPr lang="en-US" sz="1900" dirty="0" b="0">
                <a:solidFill>
                  <a:schemeClr val="tx1"/>
                </a:solidFill>
              </a:rPr>
              <a:t>Navegador → Apache (HTTP/HTTPS) → PHP → MySQL (via PDO).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10. Arquitectura e Modelação da Base de Dados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10.1. Arquitectura em Três Camadas e Fluxo de Alertas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1900" dirty="0" b="1">
                <a:solidFill>
                  <a:schemeClr val="tx1"/>
                </a:solidFill>
              </a:rPr>
              <a:t>Camadas: </a:t>
            </a:r>
            <a:r>
              <a:rPr lang="en-US" sz="1900" dirty="0" b="0">
                <a:solidFill>
                  <a:schemeClr val="tx1"/>
                </a:solidFill>
              </a:rPr>
              <a:t>apresentação (HTML5, CSS3, JS), lógica de negócio (PHP) e persistência (MySQL). Apenas a camada de negócio acede à base de dados, o que facilita a manutenção (Sommerville, 2011).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1900" dirty="0" b="1">
                <a:solidFill>
                  <a:schemeClr val="tx1"/>
                </a:solidFill>
              </a:rPr>
              <a:t>Fluxo: </a:t>
            </a:r>
            <a:r>
              <a:rPr lang="en-US" sz="1900" dirty="0" b="0">
                <a:solidFill>
                  <a:schemeClr val="tx1"/>
                </a:solidFill>
              </a:rPr>
              <a:t>1) o utilizador autenticado selecciona o serviço e submete a ocorrência; 2) o navegador valida e envia o pedido; 3) o PHP valida dados, sessão e regras de duplicação; 4) se válida, grava a ocorrência e o módulo de consolidação reavalia o alerta do bairro; 5) o painel público apresenta o estado por bairro, sem dados pessoais.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10. Arquitectura e Modelação da Base de Dados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10.2. Modelo Lógico Proposto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4200000"/>
        </p:xfrm>
        <a:graphic>
          <a:graphicData uri="http://schemas.openxmlformats.org/drawingml/2006/table">
            <a:tbl>
              <a:tblPr/>
              <a:tblGrid>
                <a:gridCol w="2214644"/>
                <a:gridCol w="6039938"/>
                <a:gridCol w="3019969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Entidade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Atributos principais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Relações (FK)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municipio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id_municipio (PK), nome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bairro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id_bairro (PK), nome, id_municipio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→ municipio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utilizador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id_utilizador (PK), nome, email (único), palavra_passe_hash, perfil, data_registo, id_bairro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→ bairro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tipo_servico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id_tipo (PK), descricao (água, energia eléctrica)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estado_alerta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id_estado (PK), descricao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alerta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id_alerta (PK), id_bairro, id_tipo, id_estado, inicio, ultima_actualizacao, total_utilizadores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bairro, tipo_servico, estado_alerta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ocorrencia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id_ocorrencia (PK), id_utilizador, id_bairro, id_tipo, data_hora, id_alerta (nulo)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utilizador, bairro, tipo_servico, alerta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parametro_sistema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chave (PK), valor (janela em minutos, limiar)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registo_auditoria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id_registo (PK), id_utilizador, accao, data_hora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utilizador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10. Arquitectura e Modelação da Base de Dados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10.3. Regras de Integridade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chaves primárias em todas as tabelas e chaves estrangeiras nas relações indicadas;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unicidade no e-mail do utilizador;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campos obrigatórios (NOT NULL): bairro, tipo de serviço e data/hora da ocorrência;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estados limitados aos valores da tabela estado_alerta;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• regra de duplicação: o mesmo utilizador não pode registar nova ocorrência do mesmo tipo e bairro dentro da janela de agrupamento.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Nota: uma comunicação de «água e energia» é guardada como duas ocorrências (uma por serviço), evitando relações muitos-para-muitos. O modelo é proposto e não corresponde a uma BD comprovadamente instalada.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11. Lógica de Consolidação e Validação dos Alertas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11.1. Níveis de Informação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100" dirty="0" b="1">
                <a:solidFill>
                  <a:schemeClr val="tx1"/>
                </a:solidFill>
              </a:rPr>
              <a:t>Relato individual: </a:t>
            </a:r>
            <a:r>
              <a:rPr lang="en-US" sz="2100" dirty="0" b="0">
                <a:solidFill>
                  <a:schemeClr val="tx1"/>
                </a:solidFill>
              </a:rPr>
              <a:t>ocorrência submetida por um utilizador.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100" dirty="0" b="1">
                <a:solidFill>
                  <a:schemeClr val="tx1"/>
                </a:solidFill>
              </a:rPr>
              <a:t>Ocorrência com vários relatos semelhantes: </a:t>
            </a:r>
            <a:r>
              <a:rPr lang="en-US" sz="2100" dirty="0" b="0">
                <a:solidFill>
                  <a:schemeClr val="tx1"/>
                </a:solidFill>
              </a:rPr>
              <a:t>relatos do mesmo bairro e serviço dentro da janela temporal.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100" dirty="0" b="1">
                <a:solidFill>
                  <a:schemeClr val="tx1"/>
                </a:solidFill>
              </a:rPr>
              <a:t>Alerta consolidado pela plataforma: </a:t>
            </a:r>
            <a:r>
              <a:rPr lang="en-US" sz="2100" dirty="0" b="0">
                <a:solidFill>
                  <a:schemeClr val="tx1"/>
                </a:solidFill>
              </a:rPr>
              <a:t>atribuído quando o número de utilizadores distintos atinge o limiar definido.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100" dirty="0" b="1">
                <a:solidFill>
                  <a:schemeClr val="tx1"/>
                </a:solidFill>
              </a:rPr>
              <a:t>Interrupção oficialmente confirmada: </a:t>
            </a:r>
            <a:r>
              <a:rPr lang="en-US" sz="2100" dirty="0" b="0">
                <a:solidFill>
                  <a:schemeClr val="tx1"/>
                </a:solidFill>
              </a:rPr>
              <a:t>só existe se a entidade responsável a confirmar; o sistema não atribui este nível automaticamente.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11. Lógica de Consolidação e Validação dos Alertas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11.1. Estados Propostos para o Alerta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2520000"/>
        </p:xfrm>
        <a:graphic>
          <a:graphicData uri="http://schemas.openxmlformats.org/drawingml/2006/table">
            <a:tbl>
              <a:tblPr/>
              <a:tblGrid>
                <a:gridCol w="3623963"/>
                <a:gridCol w="7650588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Significado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Sem alerta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há relatos recentes suficientes no bairro.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 observação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Existem relatos, mas o número de utilizadores distintos é inferior ao limiar.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Alerta consolidado pela comunidade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Limiar de utilizadores distintos atingido dentro da janela. Não é confirmação oficial.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Resolvido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Marcado por administrador ou por regra de normalização.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Expirado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Sem novos relatos durante o período de expiração definido.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11. Lógica de Consolidação e Validação dos Alertas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11.2. Procedimento Proposto (pseudocódigo)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ao receber ocorrencia(utilizador, bairro, tipo):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  se existe ocorrencia do mesmo utilizador, bairro e tipo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     dentro da JANELA: rejeitar (duplicado)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  gravar ocorrencia com data_hora actual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  n = utilizadores distintos, mesmo bairro e tipo, na JANELA (120 min)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  se n &gt;= LIMIAR: estado = "Alerta consolidado pela comunidade"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  senao se n &gt;= 1: estado = "Em observação"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  actualizar alerta (estado, ultima_actualizacao, n)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periodicamente: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  para cada alerta sem novos relatos há mais de EXPIRACAO: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/>
              </a:rPr>
              <a:t>     estado = "Expirado"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11. Lógica de Consolidação e Validação dos Alertas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11.3. Parâmetros e Limitações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Janela (ponto de partida: 120 min), limiar de relatos e tempo de expiração ficam na tabela parametro_sistema e devem ser ajustados à dimensão de cada bairro após testes; não são regra universal.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O mecanismo reduz o efeito de relatos isolados, mas não impede ataques coordenados nem substitui a confirmação oficial.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Não se afirma que a consolidação funcione em tempo real, pois não existem provas de implementação e de testes.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12. Segurança e Protecção dos Dados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12. Segurança e Protecção dos Dados (medidas previstas)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• Validação no servidor de todos os dados recebidos;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• Consultas parametrizadas com PDO contra SQL Injection (OWASP, 2021);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• Palavras-passe com password_hash() / password_verify(); não usar SHA-256 simples;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• Saída segura (XSS): escapar dados com htmlspecialchars(); filter_var só valida formatos;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• Sessões: regenerar identificador após login; cookies HttpOnly e Secure em produção;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• Controlo de acesso: operações administrativas só para o perfil de administrador;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• HTTPS obrigatório em produção; minimização de dados; cópias de segurança e registo de operações.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Dados fictícios nos testes. Com dados pessoais reais, aplicar a Lei n.º 22/11, de 17 de Junho (Protecção de Dados Pessoais). A implementação deve ser confirmada em código e testes.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13. Comparação Crítica das Ferramentas Computacionais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13.1. MySQL, PostgreSQL e Bases de Dados NoSQL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Os dados (bairros, utilizadores, ocorrências, estados) são estruturados e relacionados, o que favorece um modelo relacional com integridade referencial e transacções ACID (Elmasri &amp; Navathe, 2011).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 b="1">
                <a:solidFill>
                  <a:schemeClr val="tx1"/>
                </a:solidFill>
              </a:rPr>
              <a:t>MySQL: </a:t>
            </a:r>
            <a:r>
              <a:rPr lang="en-US" sz="1900" dirty="0" b="0">
                <a:solidFill>
                  <a:schemeClr val="tx1"/>
                </a:solidFill>
              </a:rPr>
              <a:t>livre, amplamente documentado e disponível na maioria dos alojamentos web.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 b="1">
                <a:solidFill>
                  <a:schemeClr val="tx1"/>
                </a:solidFill>
              </a:rPr>
              <a:t>PostgreSQL: </a:t>
            </a:r>
            <a:r>
              <a:rPr lang="en-US" sz="1900" dirty="0" b="0">
                <a:solidFill>
                  <a:schemeClr val="tx1"/>
                </a:solidFill>
              </a:rPr>
              <a:t>alternativa robusta, com recursos geográficos (PostGIS), útil numa evolução com mapas.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900" dirty="0" b="1">
                <a:solidFill>
                  <a:schemeClr val="tx1"/>
                </a:solidFill>
              </a:rPr>
              <a:t>NoSQL (ex.: MongoDB): </a:t>
            </a:r>
            <a:r>
              <a:rPr lang="en-US" sz="1900" dirty="0" b="0">
                <a:solidFill>
                  <a:schemeClr val="tx1"/>
                </a:solidFill>
              </a:rPr>
              <a:t>mais indicado para dados pouco estruturados ou de grande escala, o que não é o caso do protótipo.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13. Comparação Crítica das Ferramentas Computacionais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13.2. PHP/Frameworks e CSS, JavaScript e Servidor Web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700" dirty="0" b="1">
                <a:solidFill>
                  <a:schemeClr val="tx1"/>
                </a:solidFill>
              </a:rPr>
              <a:t>PHP nativo vs. Laravel: </a:t>
            </a:r>
            <a:r>
              <a:rPr lang="en-US" sz="1700" dirty="0" b="0">
                <a:solidFill>
                  <a:schemeClr val="tx1"/>
                </a:solidFill>
              </a:rPr>
              <a:t>frameworks oferecem segurança integrada e migrações, mas aumentam a complexidade e a curva de aprendizagem. Para um protótipo académico, PHP nativo com PDO basta, se o código for bem organizado; em produção, uma framework pode justificar-se.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700" dirty="0" b="1">
                <a:solidFill>
                  <a:schemeClr val="tx1"/>
                </a:solidFill>
              </a:rPr>
              <a:t>CSS e JavaScript: </a:t>
            </a:r>
            <a:r>
              <a:rPr lang="en-US" sz="1700" dirty="0" b="0">
                <a:solidFill>
                  <a:schemeClr val="tx1"/>
                </a:solidFill>
              </a:rPr>
              <a:t>CSS nativo (Flexbox e Grid) dispensa dependências; o Bootstrap acelera o desenvolvimento. JavaScript puro basta para as interacções previstas; React só se justifica em aplicações mais complexas.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700" dirty="0" b="1">
                <a:solidFill>
                  <a:schemeClr val="tx1"/>
                </a:solidFill>
              </a:rPr>
              <a:t>Servidor: </a:t>
            </a:r>
            <a:r>
              <a:rPr lang="en-US" sz="1700" dirty="0" b="0">
                <a:solidFill>
                  <a:schemeClr val="tx1"/>
                </a:solidFill>
              </a:rPr>
              <a:t>Apache é consolidado e compatível com PHP; Nginx é alternativa com bom desempenho. A escolha deve basear-se na adequação ao âmbito e aos recursos, não na modernidade.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14. Plano de Testes do Protótipo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14. Plano de Testes (1/2) — dados fictícios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2940000"/>
        </p:xfrm>
        <a:graphic>
          <a:graphicData uri="http://schemas.openxmlformats.org/drawingml/2006/table">
            <a:tbl>
              <a:tblPr/>
              <a:tblGrid>
                <a:gridCol w="764376"/>
                <a:gridCol w="3057505"/>
                <a:gridCol w="5732823"/>
                <a:gridCol w="1719846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Funcionalidade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Entrada → resultado esperado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Observado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T-01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Registo (RF-001)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Dados válidos fictícios → Conta criada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T-02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Registo (RF-001)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E-mail já existente → Registo rejeitado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T-03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Autenticação (RF-002)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Credenciais correctas → Sessão iniciada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T-04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Autenticação (RF-002)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Palavra-passe errada → Acesso negado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T-05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Ocorrência (RF-005, RF-006)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Bairro e tipo válidos → Gravada com data e hora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T-06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Duplicação (RF-010)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Mesmo utilizador, bairro e tipo na janela → Rejeitado ou sinalizado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14. Plano de Testes do Protótipo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14. Plano de Testes (2/2) — dados fictícios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2940000"/>
        </p:xfrm>
        <a:graphic>
          <a:graphicData uri="http://schemas.openxmlformats.org/drawingml/2006/table">
            <a:tbl>
              <a:tblPr/>
              <a:tblGrid>
                <a:gridCol w="764376"/>
                <a:gridCol w="3057505"/>
                <a:gridCol w="5732823"/>
                <a:gridCol w="1719846"/>
              </a:tblGrid>
              <a:tr h="42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Funcionalidade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Entrada → resultado esperado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Observado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T-07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Consolidação (RF-009)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Utilizadores distintos até ao limiar → Passa a alerta consolidado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T-08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SQL Injection (RNF-001)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Texto malicioso nos campos → Tratado como texto; sem erro SQL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T-09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XSS (RNF-001)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Script em campo de texto → Conteúdo escapado na saída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T-10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Controlo de acesso (RNF-001)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Utilizador comum na área admin → Acesso negado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T-11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Painel público (RF-008)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Consulta sem sessão → Estados sem dados pessoais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Não executado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9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T-12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Usabilidade/responsividade (RNF-004/005)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F1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Telemóvel e computador → Interface utilizável nos dois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Pendente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36000" marB="36000" anchor="ctr">
                    <a:lnL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A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15. Conclusões e Considerações Finais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15.1. Contribuições Principais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Como resposta à pergunta de investigação, foram analisado o problema, especificados requisitos funcionais e não funcionais, seleccionadas tecnologias de código aberto, propostas uma arquitectura em três camadas e uma base de dados relacional, e definida uma lógica de consolidação com parâmetros configuráveis.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Revisão bibliográfica, requisitos, análise, modelação, comparação tecnológica e plano de testes estão documentados. Interfaces, consolidação e execução dos testes dependem da implementação do protótipo.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 contribuição actual é de concepção e modelação; o benefício para a comunidade é uma expectativa que carece de demonstração.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15. Conclusões e Considerações Finais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15.2. Limitações e Trabalhos Futuros</a:t>
            </a:r>
            <a:endParaRPr lang="en-US" sz="3200" dirty="0"/>
          </a:p>
        </p:txBody>
      </p:sp>
      <p:sp>
        <p:nvSpPr>
          <p:cNvPr id="4" name="painel"/>
          <p:cNvSpPr/>
          <p:nvPr/>
        </p:nvSpPr>
        <p:spPr>
          <a:xfrm>
            <a:off x="457200" y="1828800"/>
            <a:ext cx="11274552" cy="41168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330200" tIns="330200" rIns="330200" bIns="330200" rtlCol="0" anchor="ctr"/>
          <a:lstStyle/>
          <a:p>
            <a:pPr algn="l" indent="0" marL="0">
              <a:lnSpc>
                <a:spcPts val="2904"/>
              </a:lnSpc>
              <a:spcAft>
                <a:spcPts val="400"/>
              </a:spcAft>
              <a:buNone/>
            </a:pPr>
            <a:r>
              <a:rPr lang="en-US" sz="1600" dirty="0" b="1">
                <a:solidFill>
                  <a:schemeClr val="tx1"/>
                </a:solidFill>
              </a:rPr>
              <a:t>Limitações: </a:t>
            </a:r>
            <a:r>
              <a:rPr lang="en-US" sz="1600" dirty="0" b="0">
                <a:solidFill>
                  <a:schemeClr val="tx1"/>
                </a:solidFill>
              </a:rPr>
              <a:t/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sem evidências de implementação, publicação ou testes com utilizadores;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sem entrevistas, inquéritos ou recolha no terreno;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dependência da participação honesta da comunidade; risco de relatos falsos;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o alerta consolidado não é confirmação oficial da EPAL ou da ENDE.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400"/>
              </a:spcAft>
              <a:buNone/>
            </a:pPr>
            <a:r>
              <a:rPr lang="en-US" sz="1600" dirty="0" b="1">
                <a:solidFill>
                  <a:schemeClr val="tx1"/>
                </a:solidFill>
              </a:rPr>
              <a:t>Trabalhos futuros: </a:t>
            </a:r>
            <a:r>
              <a:rPr lang="en-US" sz="1600" dirty="0" b="0">
                <a:solidFill>
                  <a:schemeClr val="tx1"/>
                </a:solidFill>
              </a:rPr>
              <a:t/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implementar e validar o protótipo com utilizadores; melhorar o antifraude;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mapas (OpenStreetMap com Leaflet) com atenção à privacidade; notificações;</a:t>
            </a:r>
            <a:endParaRPr lang="en-US" sz="2200" dirty="0"/>
          </a:p>
          <a:p>
            <a:pPr algn="l" indent="0" marL="0">
              <a:lnSpc>
                <a:spcPts val="2904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• relatórios estatísticos (RF-012); confirmação por fontes oficiais, se permitida.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body" hasCustomPrompt="1"/>
          </p:nvPr>
        </p:nvSpPr>
        <p:spPr>
          <a:xfrm>
            <a:off x="45720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i="1" dirty="0">
                <a:solidFill>
                  <a:srgbClr val="595959"/>
                </a:solidFill>
              </a:rPr>
              <a:t>16. Referências Bibliográficas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en-US" sz="3200" b="1" dirty="0">
                <a:solidFill>
                  <a:srgbClr val="2F5496"/>
                </a:solidFill>
              </a:rPr>
              <a:t>16. Referências Bibliográficas</a:t>
            </a:r>
            <a:endParaRPr lang="en-US" sz="3200" dirty="0"/>
          </a:p>
        </p:txBody>
      </p:sp>
      <p:sp>
        <p:nvSpPr>
          <p:cNvPr id="4" name="Referências"/>
          <p:cNvSpPr txBox="1"/>
          <p:nvPr/>
        </p:nvSpPr>
        <p:spPr>
          <a:xfrm>
            <a:off x="457200" y="1828800"/>
            <a:ext cx="112745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APACHE SOFTWARE FOUNDATION. Apache HTTP Server Documentation. https://httpd.apache.org/docs/. 2026.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CASTELLS, Manuel. A Sociedade em Rede. São Paulo: Paz e Terra, 2011.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ELMASRI, R.; NAVATHE, S. B. Sistemas de Banco de Dados. 6.ª ed. São Paulo: Pearson, 2011.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FLANAGAN, David. JavaScript: O Guia Definitivo. 6.ª ed. Porto Alegre: Bookman, 2012.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GOODCHILD, M. F. Citizens as sensors: the world of volunteered geography. GeoJournal, v. 69, n. 4, p. 211-221, 2007.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HOWE, Jeff. Crowdsourcing. New York: Crown Business, 2008.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MDN WEB DOCS. Fetch API. https://developer.mozilla.org/en-US/docs/Web/API/Fetch_API. 2026.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ORACLE. MySQL Reference Manual. https://dev.mysql.com/doc/. 2026.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OWASP FOUNDATION. OWASP Top 10:2021. https://owasp.org/Top10/. 2026.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PHP GROUP. PHP Manual: PDO e password_hash. https://www.php.net/manual/. 2026.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PRESSMAN, R. S.; MAXIM, B. R. Engenharia de Software. 8.ª ed. Porto Alegre: AMGH, 2016.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REPÚBLICA DE ANGOLA. Lei n.º 22/11, de 17 de Junho: Lei da Protecção de Dados Pessoais.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SOMMERVILLE, Ian. Engenharia de Software. 9.ª ed. São Paulo: Pearson, 2011.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USHAHIDI. Ushahidi Platform. https://www.ushahidi.com. 2026.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W3C. HTML5. W3C Recommendation, 28 out. 2014. https://www.w3.org/TR/html5/. 2026.</a:t>
            </a:r>
            <a:pPr algn="l" indent="0" marL="0">
              <a:spcAft>
                <a:spcPts val="1200"/>
              </a:spcAft>
              <a:buNone/>
            </a:pPr>
            <a:pPr algn="l" indent="0" marL="0">
              <a:spcAft>
                <a:spcPts val="1200"/>
              </a:spcAft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2F54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CL Alertas">
  <a:themeElements>
    <a:clrScheme name="ITCL Alertas">
      <a:dk1>
        <a:srgbClr val="1F1F1F"/>
      </a:dk1>
      <a:lt1>
        <a:srgbClr val="FFFFFF"/>
      </a:lt1>
      <a:dk2>
        <a:srgbClr val="2F5496"/>
      </a:dk2>
      <a:lt2>
        <a:srgbClr val="EAF0F8"/>
      </a:lt2>
      <a:accent1>
        <a:srgbClr val="2F5496"/>
      </a:accent1>
      <a:accent2>
        <a:srgbClr val="FFE600"/>
      </a:accent2>
      <a:accent3>
        <a:srgbClr val="E30613"/>
      </a:accent3>
      <a:accent4>
        <a:srgbClr val="8FAADC"/>
      </a:accent4>
      <a:accent5>
        <a:srgbClr val="595959"/>
      </a:accent5>
      <a:accent6>
        <a:srgbClr val="1F3864"/>
      </a:accent6>
      <a:hlink>
        <a:srgbClr val="2F5496"/>
      </a:hlink>
      <a:folHlink>
        <a:srgbClr val="595959"/>
      </a:folHlink>
    </a:clrScheme>
    <a:fontScheme name="ITCL Alertas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Web de Alerta de Falta de Água e Energia Elétrica por Bairro</dc:title>
  <dc:subject>PptxGenJS Presentation</dc:subject>
  <dc:creator>Instituto Técnico Comercial de Luanda</dc:creator>
  <cp:lastModifiedBy>Instituto Técnico Comercial de Luanda</cp:lastModifiedBy>
  <cp:revision>1</cp:revision>
  <dcterms:created xsi:type="dcterms:W3CDTF">2026-10-18T22:36:20Z</dcterms:created>
  <dcterms:modified xsi:type="dcterms:W3CDTF">2026-10-18T22:36:20Z</dcterms:modified>
</cp:coreProperties>
</file>